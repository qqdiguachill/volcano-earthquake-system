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09" r:id="rId5"/>
    <p:sldId id="306" r:id="rId6"/>
    <p:sldId id="327" r:id="rId7"/>
    <p:sldId id="296" r:id="rId8"/>
    <p:sldId id="315" r:id="rId9"/>
    <p:sldId id="328" r:id="rId10"/>
    <p:sldId id="316" r:id="rId11"/>
    <p:sldId id="317" r:id="rId12"/>
    <p:sldId id="318" r:id="rId13"/>
    <p:sldId id="319" r:id="rId14"/>
    <p:sldId id="331" r:id="rId15"/>
    <p:sldId id="313" r:id="rId16"/>
    <p:sldId id="321" r:id="rId17"/>
    <p:sldId id="320" r:id="rId18"/>
    <p:sldId id="322" r:id="rId19"/>
    <p:sldId id="323" r:id="rId20"/>
    <p:sldId id="324" r:id="rId21"/>
    <p:sldId id="314" r:id="rId22"/>
    <p:sldId id="304" r:id="rId23"/>
    <p:sldId id="325" r:id="rId24"/>
    <p:sldId id="326" r:id="rId25"/>
    <p:sldId id="337" r:id="rId26"/>
    <p:sldId id="339" r:id="rId27"/>
    <p:sldId id="329" r:id="rId28"/>
    <p:sldId id="332" r:id="rId29"/>
    <p:sldId id="333" r:id="rId30"/>
    <p:sldId id="334" r:id="rId31"/>
    <p:sldId id="336" r:id="rId32"/>
    <p:sldId id="338" r:id="rId33"/>
    <p:sldId id="305" r:id="rId34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DE9"/>
    <a:srgbClr val="C59C93"/>
    <a:srgbClr val="4D74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24" autoAdjust="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>
        <p:guide pos="3840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538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A7706-CDC2-49F7-AA44-9F015E1FB66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B9A489B-620D-43B3-B3D2-10B575D6F4BE}">
      <dgm:prSet phldrT="[文字]"/>
      <dgm:spPr/>
      <dgm:t>
        <a:bodyPr/>
        <a:lstStyle/>
        <a:p>
          <a:r>
            <a:rPr lang="en-US" altLang="zh-TW" b="1" dirty="0">
              <a:solidFill>
                <a:schemeClr val="tx1"/>
              </a:solidFill>
            </a:rPr>
            <a:t>Main.py</a:t>
          </a:r>
          <a:endParaRPr lang="zh-TW" altLang="en-US" b="1" dirty="0">
            <a:solidFill>
              <a:schemeClr val="tx1"/>
            </a:solidFill>
          </a:endParaRPr>
        </a:p>
      </dgm:t>
    </dgm:pt>
    <dgm:pt modelId="{074901D9-67C6-437C-BDC6-87DB91B97DE3}" type="parTrans" cxnId="{77FB7F41-94CF-4BF4-890B-B7CC73FC956D}">
      <dgm:prSet/>
      <dgm:spPr/>
      <dgm:t>
        <a:bodyPr/>
        <a:lstStyle/>
        <a:p>
          <a:endParaRPr lang="zh-TW" altLang="en-US"/>
        </a:p>
      </dgm:t>
    </dgm:pt>
    <dgm:pt modelId="{012AF951-561D-408C-B5F8-F41A63AB0DE4}" type="sibTrans" cxnId="{77FB7F41-94CF-4BF4-890B-B7CC73FC956D}">
      <dgm:prSet/>
      <dgm:spPr/>
      <dgm:t>
        <a:bodyPr/>
        <a:lstStyle/>
        <a:p>
          <a:endParaRPr lang="zh-TW" altLang="en-US"/>
        </a:p>
      </dgm:t>
    </dgm:pt>
    <dgm:pt modelId="{BF761A82-F75D-4681-BC6A-CC3C7E9BDDE7}">
      <dgm:prSet phldrT="[文字]"/>
      <dgm:spPr/>
      <dgm:t>
        <a:bodyPr/>
        <a:lstStyle/>
        <a:p>
          <a:r>
            <a:rPr lang="en-US" altLang="zh-TW" b="1" dirty="0" err="1">
              <a:solidFill>
                <a:schemeClr val="tx1"/>
              </a:solidFill>
            </a:rPr>
            <a:t>Volcano.db</a:t>
          </a:r>
          <a:endParaRPr lang="zh-TW" altLang="en-US" b="1" dirty="0">
            <a:solidFill>
              <a:schemeClr val="tx1"/>
            </a:solidFill>
          </a:endParaRPr>
        </a:p>
      </dgm:t>
    </dgm:pt>
    <dgm:pt modelId="{D567CF7A-0F5E-45A6-A170-1D91A8DCFBFD}" type="parTrans" cxnId="{D5E889C9-42D7-4880-9EE8-A9C2E1E0CF88}">
      <dgm:prSet/>
      <dgm:spPr/>
      <dgm:t>
        <a:bodyPr/>
        <a:lstStyle/>
        <a:p>
          <a:endParaRPr lang="zh-TW" altLang="en-US"/>
        </a:p>
      </dgm:t>
    </dgm:pt>
    <dgm:pt modelId="{3CB07796-F5C6-4741-96DD-9CEAC59E24EF}" type="sibTrans" cxnId="{D5E889C9-42D7-4880-9EE8-A9C2E1E0CF88}">
      <dgm:prSet/>
      <dgm:spPr/>
      <dgm:t>
        <a:bodyPr/>
        <a:lstStyle/>
        <a:p>
          <a:endParaRPr lang="zh-TW" altLang="en-US"/>
        </a:p>
      </dgm:t>
    </dgm:pt>
    <dgm:pt modelId="{69151E55-1D94-4629-8BE1-9EAB49EE972A}">
      <dgm:prSet phldrT="[文字]"/>
      <dgm:spPr/>
      <dgm:t>
        <a:bodyPr/>
        <a:lstStyle/>
        <a:p>
          <a:r>
            <a:rPr lang="en-US" altLang="zh-TW" b="1" dirty="0">
              <a:solidFill>
                <a:schemeClr val="tx1"/>
              </a:solidFill>
            </a:rPr>
            <a:t>App.py</a:t>
          </a:r>
          <a:endParaRPr lang="zh-TW" altLang="en-US" b="1" dirty="0">
            <a:solidFill>
              <a:schemeClr val="tx1"/>
            </a:solidFill>
          </a:endParaRPr>
        </a:p>
      </dgm:t>
    </dgm:pt>
    <dgm:pt modelId="{46D4844F-508C-4BAB-AB8B-E7DA11B2DBD5}" type="parTrans" cxnId="{07545FF8-2F5E-4BDF-9428-049EA1D81FE6}">
      <dgm:prSet/>
      <dgm:spPr/>
      <dgm:t>
        <a:bodyPr/>
        <a:lstStyle/>
        <a:p>
          <a:endParaRPr lang="zh-TW" altLang="en-US"/>
        </a:p>
      </dgm:t>
    </dgm:pt>
    <dgm:pt modelId="{50834961-E8E2-449D-9297-6ADF48C58D2A}" type="sibTrans" cxnId="{07545FF8-2F5E-4BDF-9428-049EA1D81FE6}">
      <dgm:prSet/>
      <dgm:spPr/>
      <dgm:t>
        <a:bodyPr/>
        <a:lstStyle/>
        <a:p>
          <a:endParaRPr lang="zh-TW" altLang="en-US"/>
        </a:p>
      </dgm:t>
    </dgm:pt>
    <dgm:pt modelId="{7D0AB447-44AE-4351-8196-24BBA5DA9B58}" type="pres">
      <dgm:prSet presAssocID="{C3CA7706-CDC2-49F7-AA44-9F015E1FB66E}" presName="Name0" presStyleCnt="0">
        <dgm:presLayoutVars>
          <dgm:dir/>
          <dgm:animLvl val="lvl"/>
          <dgm:resizeHandles val="exact"/>
        </dgm:presLayoutVars>
      </dgm:prSet>
      <dgm:spPr/>
    </dgm:pt>
    <dgm:pt modelId="{64F2E0D5-5EB9-4F51-868B-15554326CF13}" type="pres">
      <dgm:prSet presAssocID="{4B9A489B-620D-43B3-B3D2-10B575D6F4BE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D7B717B-C76E-4022-8C24-5CD4DCCB9D67}" type="pres">
      <dgm:prSet presAssocID="{012AF951-561D-408C-B5F8-F41A63AB0DE4}" presName="parTxOnlySpace" presStyleCnt="0"/>
      <dgm:spPr/>
    </dgm:pt>
    <dgm:pt modelId="{AF8194BE-3E89-4B47-828C-7AEDB1993E4D}" type="pres">
      <dgm:prSet presAssocID="{BF761A82-F75D-4681-BC6A-CC3C7E9BDDE7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D86F54E-E2BC-4D88-8DF3-946123DED17C}" type="pres">
      <dgm:prSet presAssocID="{3CB07796-F5C6-4741-96DD-9CEAC59E24EF}" presName="parTxOnlySpace" presStyleCnt="0"/>
      <dgm:spPr/>
    </dgm:pt>
    <dgm:pt modelId="{4BA3B787-11F7-47B1-8193-097F05D2BEED}" type="pres">
      <dgm:prSet presAssocID="{69151E55-1D94-4629-8BE1-9EAB49EE972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C70A00F-A9A7-4EF4-84FC-13CCA7A6241B}" type="presOf" srcId="{69151E55-1D94-4629-8BE1-9EAB49EE972A}" destId="{4BA3B787-11F7-47B1-8193-097F05D2BEED}" srcOrd="0" destOrd="0" presId="urn:microsoft.com/office/officeart/2005/8/layout/chevron1"/>
    <dgm:cxn modelId="{4F3BD324-E480-41DA-9754-290FE5A6A12F}" type="presOf" srcId="{C3CA7706-CDC2-49F7-AA44-9F015E1FB66E}" destId="{7D0AB447-44AE-4351-8196-24BBA5DA9B58}" srcOrd="0" destOrd="0" presId="urn:microsoft.com/office/officeart/2005/8/layout/chevron1"/>
    <dgm:cxn modelId="{77FB7F41-94CF-4BF4-890B-B7CC73FC956D}" srcId="{C3CA7706-CDC2-49F7-AA44-9F015E1FB66E}" destId="{4B9A489B-620D-43B3-B3D2-10B575D6F4BE}" srcOrd="0" destOrd="0" parTransId="{074901D9-67C6-437C-BDC6-87DB91B97DE3}" sibTransId="{012AF951-561D-408C-B5F8-F41A63AB0DE4}"/>
    <dgm:cxn modelId="{273445AE-4E49-42A3-A5FF-9367EF946EFD}" type="presOf" srcId="{BF761A82-F75D-4681-BC6A-CC3C7E9BDDE7}" destId="{AF8194BE-3E89-4B47-828C-7AEDB1993E4D}" srcOrd="0" destOrd="0" presId="urn:microsoft.com/office/officeart/2005/8/layout/chevron1"/>
    <dgm:cxn modelId="{D5E889C9-42D7-4880-9EE8-A9C2E1E0CF88}" srcId="{C3CA7706-CDC2-49F7-AA44-9F015E1FB66E}" destId="{BF761A82-F75D-4681-BC6A-CC3C7E9BDDE7}" srcOrd="1" destOrd="0" parTransId="{D567CF7A-0F5E-45A6-A170-1D91A8DCFBFD}" sibTransId="{3CB07796-F5C6-4741-96DD-9CEAC59E24EF}"/>
    <dgm:cxn modelId="{BD99AACB-3663-42DC-A379-9EE637B0439C}" type="presOf" srcId="{4B9A489B-620D-43B3-B3D2-10B575D6F4BE}" destId="{64F2E0D5-5EB9-4F51-868B-15554326CF13}" srcOrd="0" destOrd="0" presId="urn:microsoft.com/office/officeart/2005/8/layout/chevron1"/>
    <dgm:cxn modelId="{07545FF8-2F5E-4BDF-9428-049EA1D81FE6}" srcId="{C3CA7706-CDC2-49F7-AA44-9F015E1FB66E}" destId="{69151E55-1D94-4629-8BE1-9EAB49EE972A}" srcOrd="2" destOrd="0" parTransId="{46D4844F-508C-4BAB-AB8B-E7DA11B2DBD5}" sibTransId="{50834961-E8E2-449D-9297-6ADF48C58D2A}"/>
    <dgm:cxn modelId="{FC5485F2-9C0A-4177-8B79-701C0C9870A9}" type="presParOf" srcId="{7D0AB447-44AE-4351-8196-24BBA5DA9B58}" destId="{64F2E0D5-5EB9-4F51-868B-15554326CF13}" srcOrd="0" destOrd="0" presId="urn:microsoft.com/office/officeart/2005/8/layout/chevron1"/>
    <dgm:cxn modelId="{04D93FB8-7AC1-4266-AE14-D0C00B6F5DAF}" type="presParOf" srcId="{7D0AB447-44AE-4351-8196-24BBA5DA9B58}" destId="{AD7B717B-C76E-4022-8C24-5CD4DCCB9D67}" srcOrd="1" destOrd="0" presId="urn:microsoft.com/office/officeart/2005/8/layout/chevron1"/>
    <dgm:cxn modelId="{2D3CE409-AD1B-4D60-A9E0-9561007BB886}" type="presParOf" srcId="{7D0AB447-44AE-4351-8196-24BBA5DA9B58}" destId="{AF8194BE-3E89-4B47-828C-7AEDB1993E4D}" srcOrd="2" destOrd="0" presId="urn:microsoft.com/office/officeart/2005/8/layout/chevron1"/>
    <dgm:cxn modelId="{D3F76152-D94A-4D14-BABA-B5C7A04D3292}" type="presParOf" srcId="{7D0AB447-44AE-4351-8196-24BBA5DA9B58}" destId="{4D86F54E-E2BC-4D88-8DF3-946123DED17C}" srcOrd="3" destOrd="0" presId="urn:microsoft.com/office/officeart/2005/8/layout/chevron1"/>
    <dgm:cxn modelId="{C1997FD5-4437-464F-A5CC-D714D07AA814}" type="presParOf" srcId="{7D0AB447-44AE-4351-8196-24BBA5DA9B58}" destId="{4BA3B787-11F7-47B1-8193-097F05D2BEED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2E0D5-5EB9-4F51-868B-15554326CF13}">
      <dsp:nvSpPr>
        <dsp:cNvPr id="0" name=""/>
        <dsp:cNvSpPr/>
      </dsp:nvSpPr>
      <dsp:spPr>
        <a:xfrm>
          <a:off x="1612" y="1444611"/>
          <a:ext cx="1964571" cy="7858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b="1" kern="1200" dirty="0">
              <a:solidFill>
                <a:schemeClr val="tx1"/>
              </a:solidFill>
            </a:rPr>
            <a:t>Main.py</a:t>
          </a:r>
          <a:endParaRPr lang="zh-TW" altLang="en-US" sz="1800" b="1" kern="1200" dirty="0">
            <a:solidFill>
              <a:schemeClr val="tx1"/>
            </a:solidFill>
          </a:endParaRPr>
        </a:p>
      </dsp:txBody>
      <dsp:txXfrm>
        <a:off x="394526" y="1444611"/>
        <a:ext cx="1178743" cy="785828"/>
      </dsp:txXfrm>
    </dsp:sp>
    <dsp:sp modelId="{AF8194BE-3E89-4B47-828C-7AEDB1993E4D}">
      <dsp:nvSpPr>
        <dsp:cNvPr id="0" name=""/>
        <dsp:cNvSpPr/>
      </dsp:nvSpPr>
      <dsp:spPr>
        <a:xfrm>
          <a:off x="1769726" y="1444611"/>
          <a:ext cx="1964571" cy="7858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b="1" kern="1200" dirty="0" err="1">
              <a:solidFill>
                <a:schemeClr val="tx1"/>
              </a:solidFill>
            </a:rPr>
            <a:t>Volcano.db</a:t>
          </a:r>
          <a:endParaRPr lang="zh-TW" altLang="en-US" sz="1800" b="1" kern="1200" dirty="0">
            <a:solidFill>
              <a:schemeClr val="tx1"/>
            </a:solidFill>
          </a:endParaRPr>
        </a:p>
      </dsp:txBody>
      <dsp:txXfrm>
        <a:off x="2162640" y="1444611"/>
        <a:ext cx="1178743" cy="785828"/>
      </dsp:txXfrm>
    </dsp:sp>
    <dsp:sp modelId="{4BA3B787-11F7-47B1-8193-097F05D2BEED}">
      <dsp:nvSpPr>
        <dsp:cNvPr id="0" name=""/>
        <dsp:cNvSpPr/>
      </dsp:nvSpPr>
      <dsp:spPr>
        <a:xfrm>
          <a:off x="3537840" y="1444611"/>
          <a:ext cx="1964571" cy="7858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b="1" kern="1200" dirty="0">
              <a:solidFill>
                <a:schemeClr val="tx1"/>
              </a:solidFill>
            </a:rPr>
            <a:t>App.py</a:t>
          </a:r>
          <a:endParaRPr lang="zh-TW" altLang="en-US" sz="1800" b="1" kern="1200" dirty="0">
            <a:solidFill>
              <a:schemeClr val="tx1"/>
            </a:solidFill>
          </a:endParaRPr>
        </a:p>
      </dsp:txBody>
      <dsp:txXfrm>
        <a:off x="3930754" y="1444611"/>
        <a:ext cx="1178743" cy="785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CC20273-5AA7-4B5D-8917-720BAAB913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1CC58D-E543-4F81-9083-39F6F7D44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2A8CAC7-F1F6-4EDC-BFBB-2134C15503FA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2025/12/28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66FDA1-CF86-4FB5-8893-04F6CB5B06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D5CFB5-A96B-47B6-A27C-F99C604341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DD7E118-DCD0-425E-8F60-56D854F8828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82593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BFFA020-F7A3-4152-B56A-687BF3A07C4D}" type="datetime1">
              <a:rPr lang="zh-TW" altLang="en-US" noProof="0" smtClean="0"/>
              <a:t>2025/12/28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6B913A0-8194-43AB-8CE1-D8825DE3150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27671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3716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3621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5329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755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7821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9002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0728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46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2599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013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6164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3505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8622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3762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2879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429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1102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3102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3671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0846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1708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0767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2096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7018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44290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61802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19373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6B913A0-8194-43AB-8CE1-D8825DE3150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349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版面配置區 8" descr="粉紅色背景上的棕櫚葉相片&#10;">
            <a:extLst>
              <a:ext uri="{FF2B5EF4-FFF2-40B4-BE49-F238E27FC236}">
                <a16:creationId xmlns:a16="http://schemas.microsoft.com/office/drawing/2014/main" id="{E987AC57-CBB8-467C-8A39-019EA33D0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11192F3-A424-430E-B4BC-525DF06AE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584" y="1901952"/>
            <a:ext cx="3937416" cy="2387600"/>
          </a:xfrm>
        </p:spPr>
        <p:txBody>
          <a:bodyPr rtlCol="0" anchor="b">
            <a:normAutofit/>
          </a:bodyPr>
          <a:lstStyle>
            <a:lvl1pPr algn="l">
              <a:defRPr sz="4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FD8B2AA-F7CC-4211-87D1-ABF49E9994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30584" y="4379976"/>
            <a:ext cx="3937416" cy="572798"/>
          </a:xfrm>
        </p:spPr>
        <p:txBody>
          <a:bodyPr rtlCol="0">
            <a:normAutofit/>
          </a:bodyPr>
          <a:lstStyle>
            <a:lvl1pPr marL="0" indent="0" algn="l">
              <a:buNone/>
              <a:defRPr sz="20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8CAF1BA5-EAFF-4D55-A445-675B1CEF48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3825" y="1143000"/>
            <a:ext cx="5029200" cy="4572000"/>
          </a:xfrm>
          <a:solidFill>
            <a:schemeClr val="accent4"/>
          </a:solidFill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公司宗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版面配置區 8" descr="棕櫚樹葉的相片&#10;">
            <a:extLst>
              <a:ext uri="{FF2B5EF4-FFF2-40B4-BE49-F238E27FC236}">
                <a16:creationId xmlns:a16="http://schemas.microsoft.com/office/drawing/2014/main" id="{A048BE5A-008A-4FF6-883D-F5F006940A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581EE29-7D44-4587-82CF-1233814B7533}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8" name="圖片版面配置區 10">
            <a:extLst>
              <a:ext uri="{FF2B5EF4-FFF2-40B4-BE49-F238E27FC236}">
                <a16:creationId xmlns:a16="http://schemas.microsoft.com/office/drawing/2014/main" id="{D9DE5763-72AE-43A2-A15B-0A85851E82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777240"/>
            <a:ext cx="5184648" cy="5303520"/>
          </a:xfrm>
          <a:solidFill>
            <a:schemeClr val="accent4"/>
          </a:solidFill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1828800"/>
            <a:ext cx="4087368" cy="841248"/>
          </a:xfrm>
        </p:spPr>
        <p:txBody>
          <a:bodyPr rtlCol="0">
            <a:normAutofit/>
          </a:bodyPr>
          <a:lstStyle>
            <a:lvl1pPr>
              <a:defRPr sz="4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63040" y="2799983"/>
            <a:ext cx="4087368" cy="2203704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1832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版面配置區 64">
            <a:extLst>
              <a:ext uri="{FF2B5EF4-FFF2-40B4-BE49-F238E27FC236}">
                <a16:creationId xmlns:a16="http://schemas.microsoft.com/office/drawing/2014/main" id="{D73C250B-F170-486D-A636-FAA4ED926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588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8" name="圖片版面配置區 7">
            <a:extLst>
              <a:ext uri="{FF2B5EF4-FFF2-40B4-BE49-F238E27FC236}">
                <a16:creationId xmlns:a16="http://schemas.microsoft.com/office/drawing/2014/main" id="{DAE32DAA-2F83-4F0B-B593-EAEC38A22B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200" y="1975104"/>
            <a:ext cx="2103120" cy="3017520"/>
          </a:xfrm>
          <a:solidFill>
            <a:schemeClr val="accent4"/>
          </a:solidFill>
          <a:ln w="88900">
            <a:solidFill>
              <a:schemeClr val="bg1"/>
            </a:solidFill>
            <a:miter lim="800000"/>
          </a:ln>
          <a:effectLst>
            <a:outerShdw blurRad="127000" dist="38100" dir="2700000" algn="ctr" rotWithShape="0">
              <a:schemeClr val="tx1">
                <a:alpha val="40000"/>
              </a:schemeClr>
            </a:outerShdw>
          </a:effectLst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id="{6F62CE30-AF00-49C9-BB4C-FF4623AE48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5249545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 dirty="0"/>
              <a:t>姓名</a:t>
            </a:r>
          </a:p>
        </p:txBody>
      </p:sp>
      <p:sp>
        <p:nvSpPr>
          <p:cNvPr id="14" name="文字版面配置區 12">
            <a:extLst>
              <a:ext uri="{FF2B5EF4-FFF2-40B4-BE49-F238E27FC236}">
                <a16:creationId xmlns:a16="http://schemas.microsoft.com/office/drawing/2014/main" id="{11E27B3C-F9CB-489A-B87D-B019E80246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882" y="5538152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9" name="圖片版面配置區 7">
            <a:extLst>
              <a:ext uri="{FF2B5EF4-FFF2-40B4-BE49-F238E27FC236}">
                <a16:creationId xmlns:a16="http://schemas.microsoft.com/office/drawing/2014/main" id="{DE0F61DF-6086-4D91-A1DB-0C91BD225C0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42360" y="1975104"/>
            <a:ext cx="2103120" cy="3017520"/>
          </a:xfrm>
          <a:solidFill>
            <a:schemeClr val="accent4"/>
          </a:solidFill>
          <a:ln w="88900">
            <a:solidFill>
              <a:schemeClr val="bg1"/>
            </a:solidFill>
            <a:miter lim="800000"/>
          </a:ln>
          <a:effectLst>
            <a:outerShdw blurRad="127000" dist="38100" dir="2700000" algn="ctr" rotWithShape="0">
              <a:schemeClr val="tx1">
                <a:alpha val="40000"/>
              </a:schemeClr>
            </a:outerShdw>
          </a:effectLst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5" name="文字版面配置區 12">
            <a:extLst>
              <a:ext uri="{FF2B5EF4-FFF2-40B4-BE49-F238E27FC236}">
                <a16:creationId xmlns:a16="http://schemas.microsoft.com/office/drawing/2014/main" id="{DD1B9ECE-8B72-4E8C-BF0F-42BAD333E5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42678" y="5249545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6" name="文字版面配置區 12">
            <a:extLst>
              <a:ext uri="{FF2B5EF4-FFF2-40B4-BE49-F238E27FC236}">
                <a16:creationId xmlns:a16="http://schemas.microsoft.com/office/drawing/2014/main" id="{CC01C00D-D845-4EA4-ACEA-80430CEC0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2360" y="5538152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10" name="圖片版面配置區 7">
            <a:extLst>
              <a:ext uri="{FF2B5EF4-FFF2-40B4-BE49-F238E27FC236}">
                <a16:creationId xmlns:a16="http://schemas.microsoft.com/office/drawing/2014/main" id="{E36DA0C1-756A-41EF-BD41-B210DAD57A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46520" y="1975104"/>
            <a:ext cx="2103120" cy="3017520"/>
          </a:xfrm>
          <a:solidFill>
            <a:schemeClr val="accent4"/>
          </a:solidFill>
          <a:ln w="88900">
            <a:solidFill>
              <a:schemeClr val="bg1"/>
            </a:solidFill>
            <a:miter lim="800000"/>
          </a:ln>
          <a:effectLst>
            <a:outerShdw blurRad="127000" dist="38100" dir="2700000" algn="ctr" rotWithShape="0">
              <a:schemeClr val="tx1">
                <a:alpha val="40000"/>
              </a:schemeClr>
            </a:outerShdw>
          </a:effectLst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7" name="文字版面配置區 12">
            <a:extLst>
              <a:ext uri="{FF2B5EF4-FFF2-40B4-BE49-F238E27FC236}">
                <a16:creationId xmlns:a16="http://schemas.microsoft.com/office/drawing/2014/main" id="{22C7D19B-8BCA-4A46-A531-C74F00C501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6204" y="5249545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8" name="文字版面配置區 12">
            <a:extLst>
              <a:ext uri="{FF2B5EF4-FFF2-40B4-BE49-F238E27FC236}">
                <a16:creationId xmlns:a16="http://schemas.microsoft.com/office/drawing/2014/main" id="{A1BA12AE-AA7B-4898-AE4C-6EF1BF0293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5886" y="5538152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11" name="圖片版面配置區 7">
            <a:extLst>
              <a:ext uri="{FF2B5EF4-FFF2-40B4-BE49-F238E27FC236}">
                <a16:creationId xmlns:a16="http://schemas.microsoft.com/office/drawing/2014/main" id="{C824A7A5-D0EA-414B-A57F-AFC09799DF8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50680" y="1975104"/>
            <a:ext cx="2103120" cy="3017520"/>
          </a:xfrm>
          <a:solidFill>
            <a:schemeClr val="accent4"/>
          </a:solidFill>
          <a:ln w="88900">
            <a:solidFill>
              <a:schemeClr val="bg1"/>
            </a:solidFill>
            <a:miter lim="800000"/>
          </a:ln>
          <a:effectLst>
            <a:outerShdw blurRad="127000" dist="38100" dir="2700000" algn="ctr" rotWithShape="0">
              <a:schemeClr val="tx1">
                <a:alpha val="40000"/>
              </a:schemeClr>
            </a:outerShdw>
          </a:effectLst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9" name="文字版面配置區 12">
            <a:extLst>
              <a:ext uri="{FF2B5EF4-FFF2-40B4-BE49-F238E27FC236}">
                <a16:creationId xmlns:a16="http://schemas.microsoft.com/office/drawing/2014/main" id="{0CCA0A92-44E0-4256-BDF5-D01C27404D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49412" y="5249545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20" name="文字版面配置區 12">
            <a:extLst>
              <a:ext uri="{FF2B5EF4-FFF2-40B4-BE49-F238E27FC236}">
                <a16:creationId xmlns:a16="http://schemas.microsoft.com/office/drawing/2014/main" id="{16D5C7BE-6D3E-4E7E-BBE6-230B10C2F43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9094" y="5538152"/>
            <a:ext cx="2103438" cy="2743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rg 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版面配置區 38">
            <a:extLst>
              <a:ext uri="{FF2B5EF4-FFF2-40B4-BE49-F238E27FC236}">
                <a16:creationId xmlns:a16="http://schemas.microsoft.com/office/drawing/2014/main" id="{FCA6EB2C-E8DA-46AE-AD91-63B890E4AC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1" name="SmartArt 版面配置區 20">
            <a:extLst>
              <a:ext uri="{FF2B5EF4-FFF2-40B4-BE49-F238E27FC236}">
                <a16:creationId xmlns:a16="http://schemas.microsoft.com/office/drawing/2014/main" id="{22DDECCB-0586-4A4E-B5E8-F4F3A0C4DD2C}"/>
              </a:ext>
            </a:extLst>
          </p:cNvPr>
          <p:cNvSpPr>
            <a:spLocks noGrp="1"/>
          </p:cNvSpPr>
          <p:nvPr>
            <p:ph type="dgm" sz="quarter" idx="27"/>
          </p:nvPr>
        </p:nvSpPr>
        <p:spPr>
          <a:xfrm>
            <a:off x="1088136" y="2039112"/>
            <a:ext cx="10515600" cy="3960812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 </a:t>
            </a:r>
            <a:r>
              <a:rPr lang="en-US" altLang="zh-TW" noProof="0"/>
              <a:t>SmartArt </a:t>
            </a:r>
            <a:r>
              <a:rPr lang="zh-TW" altLang="en-US" noProof="0"/>
              <a:t>圖形</a:t>
            </a:r>
          </a:p>
        </p:txBody>
      </p:sp>
    </p:spTree>
    <p:extLst>
      <p:ext uri="{BB962C8B-B14F-4D97-AF65-F5344CB8AC3E}">
        <p14:creationId xmlns:p14="http://schemas.microsoft.com/office/powerpoint/2010/main" val="392502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機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版面配置區 17" descr="植物特寫相片&#10;">
            <a:extLst>
              <a:ext uri="{FF2B5EF4-FFF2-40B4-BE49-F238E27FC236}">
                <a16:creationId xmlns:a16="http://schemas.microsoft.com/office/drawing/2014/main" id="{7863BFED-18F0-48ED-A69C-CA7DB56543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072CCB7-8B6D-4640-9349-4BF4E6715721}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055BE3A6-48FA-4624-9CA9-027EFA2E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890913CB-E9D8-4BC6-BF27-FBDED2266B7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657183" y="2411516"/>
            <a:ext cx="4114800" cy="274320"/>
          </a:xfrm>
        </p:spPr>
        <p:txBody>
          <a:bodyPr rtlCol="0">
            <a:no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 dirty="0"/>
              <a:t>按一下以編輯文字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57183" y="2707071"/>
            <a:ext cx="4114800" cy="731520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C961473-F8E7-498A-AFFD-2BC0065884E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657183" y="3567512"/>
            <a:ext cx="4114800" cy="274320"/>
          </a:xfrm>
        </p:spPr>
        <p:txBody>
          <a:bodyPr rtlCol="0">
            <a:no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 dirty="0"/>
              <a:t>按一下以編輯文字</a:t>
            </a: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F32F6735-86D0-4D0F-9741-8D6C74C99BA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1657183" y="3863067"/>
            <a:ext cx="4114800" cy="731520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DAD41BAB-B874-4283-8FDD-618EAB4B7CC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657183" y="4737597"/>
            <a:ext cx="4114800" cy="274320"/>
          </a:xfrm>
        </p:spPr>
        <p:txBody>
          <a:bodyPr rtlCol="0">
            <a:no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6382FE5C-EADC-4EF2-9E4F-06BDCA5551B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657183" y="5033152"/>
            <a:ext cx="4114800" cy="731520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65016684-22E4-49BC-9E14-2E73CF3F757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04811" y="2411516"/>
            <a:ext cx="4114800" cy="274320"/>
          </a:xfrm>
        </p:spPr>
        <p:txBody>
          <a:bodyPr rtlCol="0">
            <a:no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52459E-612F-4699-B9E5-39839B5B6D7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04811" y="2707071"/>
            <a:ext cx="4114800" cy="731520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93FEF41-CD0D-4D3A-90FA-2F123068E73D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404811" y="3570539"/>
            <a:ext cx="4114800" cy="274320"/>
          </a:xfrm>
        </p:spPr>
        <p:txBody>
          <a:bodyPr rtlCol="0">
            <a:no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56A7E58B-04CA-4390-878D-CBE6185E320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404811" y="3865136"/>
            <a:ext cx="4114800" cy="731520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1926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場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版面配置區 5">
            <a:extLst>
              <a:ext uri="{FF2B5EF4-FFF2-40B4-BE49-F238E27FC236}">
                <a16:creationId xmlns:a16="http://schemas.microsoft.com/office/drawing/2014/main" id="{5FF0F6C8-DE96-49F6-9B94-970D5FD91A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74849AF-E9E9-4606-B5ED-99DD9840B922}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3312" y="3548340"/>
            <a:ext cx="2743200" cy="2286000"/>
          </a:xfrm>
        </p:spPr>
        <p:txBody>
          <a:bodyPr rtlCol="0">
            <a:normAutofit/>
          </a:bodyPr>
          <a:lstStyle>
            <a:lvl1pPr marL="0" indent="0" algn="ctr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230B408-EB55-4F52-8E6D-81122B0E674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59452" y="3548340"/>
            <a:ext cx="2743200" cy="2286000"/>
          </a:xfrm>
        </p:spPr>
        <p:txBody>
          <a:bodyPr rtlCol="0">
            <a:normAutofit/>
          </a:bodyPr>
          <a:lstStyle>
            <a:lvl1pPr marL="0" indent="0" algn="ctr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594AD6F-861E-4958-9DD7-5C6CBEA1534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165592" y="3548340"/>
            <a:ext cx="2743200" cy="2286000"/>
          </a:xfrm>
        </p:spPr>
        <p:txBody>
          <a:bodyPr rtlCol="0">
            <a:normAutofit/>
          </a:bodyPr>
          <a:lstStyle>
            <a:lvl1pPr marL="0" indent="0" algn="ctr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52795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1">
            <a:extLst>
              <a:ext uri="{FF2B5EF4-FFF2-40B4-BE49-F238E27FC236}">
                <a16:creationId xmlns:a16="http://schemas.microsoft.com/office/drawing/2014/main" id="{5AA14AE4-11F2-4FDA-9E81-B2567D6A64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6181344" cy="6858000"/>
          </a:xfrm>
          <a:custGeom>
            <a:avLst/>
            <a:gdLst>
              <a:gd name="connsiteX0" fmla="*/ 961757 w 6181344"/>
              <a:gd name="connsiteY0" fmla="*/ 4070850 h 6858000"/>
              <a:gd name="connsiteX1" fmla="*/ 961757 w 6181344"/>
              <a:gd name="connsiteY1" fmla="*/ 5076690 h 6858000"/>
              <a:gd name="connsiteX2" fmla="*/ 6094475 w 6181344"/>
              <a:gd name="connsiteY2" fmla="*/ 5076690 h 6858000"/>
              <a:gd name="connsiteX3" fmla="*/ 6094475 w 6181344"/>
              <a:gd name="connsiteY3" fmla="*/ 4070850 h 6858000"/>
              <a:gd name="connsiteX4" fmla="*/ 0 w 6181344"/>
              <a:gd name="connsiteY4" fmla="*/ 0 h 6858000"/>
              <a:gd name="connsiteX5" fmla="*/ 6181344 w 6181344"/>
              <a:gd name="connsiteY5" fmla="*/ 0 h 6858000"/>
              <a:gd name="connsiteX6" fmla="*/ 6181344 w 6181344"/>
              <a:gd name="connsiteY6" fmla="*/ 6858000 h 6858000"/>
              <a:gd name="connsiteX7" fmla="*/ 0 w 618134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81344" h="6858000">
                <a:moveTo>
                  <a:pt x="961757" y="4070850"/>
                </a:moveTo>
                <a:lnTo>
                  <a:pt x="961757" y="5076690"/>
                </a:lnTo>
                <a:lnTo>
                  <a:pt x="6094475" y="5076690"/>
                </a:lnTo>
                <a:lnTo>
                  <a:pt x="6094475" y="4070850"/>
                </a:lnTo>
                <a:close/>
                <a:moveTo>
                  <a:pt x="0" y="0"/>
                </a:moveTo>
                <a:lnTo>
                  <a:pt x="6181344" y="0"/>
                </a:lnTo>
                <a:lnTo>
                  <a:pt x="61813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3EBD09-1706-473B-B779-2BE1D717216B}"/>
              </a:ext>
            </a:extLst>
          </p:cNvPr>
          <p:cNvSpPr/>
          <p:nvPr userDrawn="1"/>
        </p:nvSpPr>
        <p:spPr>
          <a:xfrm>
            <a:off x="963281" y="4070850"/>
            <a:ext cx="5132718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4151376"/>
            <a:ext cx="4443664" cy="914400"/>
          </a:xfrm>
        </p:spPr>
        <p:txBody>
          <a:bodyPr rtlCol="0" anchor="ctr" anchorCtr="0">
            <a:normAutofit/>
          </a:bodyPr>
          <a:lstStyle>
            <a:lvl1pPr algn="ctr"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5F381AAE-62C0-4761-90A8-43C8E0B3D2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8000" y="777240"/>
            <a:ext cx="8229600" cy="5303520"/>
          </a:xfrm>
          <a:custGeom>
            <a:avLst/>
            <a:gdLst>
              <a:gd name="connsiteX0" fmla="*/ 0 w 8229600"/>
              <a:gd name="connsiteY0" fmla="*/ 0 h 5303520"/>
              <a:gd name="connsiteX1" fmla="*/ 8229600 w 8229600"/>
              <a:gd name="connsiteY1" fmla="*/ 0 h 5303520"/>
              <a:gd name="connsiteX2" fmla="*/ 8229600 w 8229600"/>
              <a:gd name="connsiteY2" fmla="*/ 5303520 h 5303520"/>
              <a:gd name="connsiteX3" fmla="*/ 0 w 8229600"/>
              <a:gd name="connsiteY3" fmla="*/ 5303520 h 5303520"/>
              <a:gd name="connsiteX4" fmla="*/ 0 w 8229600"/>
              <a:gd name="connsiteY4" fmla="*/ 4299450 h 5303520"/>
              <a:gd name="connsiteX5" fmla="*/ 3047999 w 8229600"/>
              <a:gd name="connsiteY5" fmla="*/ 4299450 h 5303520"/>
              <a:gd name="connsiteX6" fmla="*/ 3047999 w 8229600"/>
              <a:gd name="connsiteY6" fmla="*/ 3293610 h 5303520"/>
              <a:gd name="connsiteX7" fmla="*/ 0 w 8229600"/>
              <a:gd name="connsiteY7" fmla="*/ 3293610 h 530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29600" h="5303520">
                <a:moveTo>
                  <a:pt x="0" y="0"/>
                </a:moveTo>
                <a:lnTo>
                  <a:pt x="8229600" y="0"/>
                </a:lnTo>
                <a:lnTo>
                  <a:pt x="8229600" y="5303520"/>
                </a:lnTo>
                <a:lnTo>
                  <a:pt x="0" y="5303520"/>
                </a:lnTo>
                <a:lnTo>
                  <a:pt x="0" y="4299450"/>
                </a:lnTo>
                <a:lnTo>
                  <a:pt x="3047999" y="4299450"/>
                </a:lnTo>
                <a:lnTo>
                  <a:pt x="3047999" y="3293610"/>
                </a:lnTo>
                <a:lnTo>
                  <a:pt x="0" y="329361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業務概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C62EDD7B-9CFE-429C-B002-CB0D9B31ECD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solidFill>
            <a:schemeClr val="bg1"/>
          </a:solidFill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F3BCA8-7FE0-4921-AE34-6F98AC0AC858}"/>
              </a:ext>
            </a:extLst>
          </p:cNvPr>
          <p:cNvSpPr/>
          <p:nvPr userDrawn="1"/>
        </p:nvSpPr>
        <p:spPr>
          <a:xfrm>
            <a:off x="6096000" y="1143000"/>
            <a:ext cx="5486400" cy="4572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5760" rtlCol="0" anchor="ctr"/>
          <a:lstStyle/>
          <a:p>
            <a:pPr algn="ctr" rtl="0"/>
            <a:endParaRPr lang="zh-TW" altLang="en-US" sz="3600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43000"/>
            <a:ext cx="5486400" cy="4572000"/>
          </a:xfrm>
          <a:solidFill>
            <a:schemeClr val="bg1">
              <a:alpha val="90000"/>
            </a:schemeClr>
          </a:solidFill>
        </p:spPr>
        <p:txBody>
          <a:bodyPr lIns="612648" tIns="822960" rIns="457200" rtlCol="0" anchor="t">
            <a:noAutofit/>
          </a:bodyPr>
          <a:lstStyle>
            <a:lvl1pPr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29400" y="2996693"/>
            <a:ext cx="4416552" cy="2216986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51462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ZA" noProof="0" dirty="0"/>
          </a:p>
        </p:txBody>
      </p:sp>
      <p:sp>
        <p:nvSpPr>
          <p:cNvPr id="64" name="文字版面配置區 3">
            <a:extLst>
              <a:ext uri="{FF2B5EF4-FFF2-40B4-BE49-F238E27FC236}">
                <a16:creationId xmlns:a16="http://schemas.microsoft.com/office/drawing/2014/main" id="{7CFD315B-9E75-4209-B7A2-80B8449A4E2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48840" y="1993392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rtlCol="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項目標題</a:t>
            </a:r>
            <a:endParaRPr lang="zh-TW" altLang="en-ZA" noProof="0"/>
          </a:p>
        </p:txBody>
      </p:sp>
      <p:sp>
        <p:nvSpPr>
          <p:cNvPr id="38" name="文字版面配置區 10">
            <a:extLst>
              <a:ext uri="{FF2B5EF4-FFF2-40B4-BE49-F238E27FC236}">
                <a16:creationId xmlns:a16="http://schemas.microsoft.com/office/drawing/2014/main" id="{0FE649C6-E102-4D6E-ABCC-F2992D2819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255264"/>
            <a:ext cx="731520" cy="457200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年份</a:t>
            </a:r>
            <a:endParaRPr lang="zh-TW" altLang="en-ZA" noProof="0"/>
          </a:p>
        </p:txBody>
      </p:sp>
      <p:sp>
        <p:nvSpPr>
          <p:cNvPr id="39" name="文字版面配置區 10">
            <a:extLst>
              <a:ext uri="{FF2B5EF4-FFF2-40B4-BE49-F238E27FC236}">
                <a16:creationId xmlns:a16="http://schemas.microsoft.com/office/drawing/2014/main" id="{BE213787-ACF7-458D-9A73-3F194978B6D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0" name="文字版面配置區 10">
            <a:extLst>
              <a:ext uri="{FF2B5EF4-FFF2-40B4-BE49-F238E27FC236}">
                <a16:creationId xmlns:a16="http://schemas.microsoft.com/office/drawing/2014/main" id="{6154F8E5-E3E5-4C0F-AE2F-2170C25EDC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2344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1" name="文字版面配置區 10">
            <a:extLst>
              <a:ext uri="{FF2B5EF4-FFF2-40B4-BE49-F238E27FC236}">
                <a16:creationId xmlns:a16="http://schemas.microsoft.com/office/drawing/2014/main" id="{B1453360-81EF-4EB1-B249-712DA6E62C8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2" name="文字版面配置區 10">
            <a:extLst>
              <a:ext uri="{FF2B5EF4-FFF2-40B4-BE49-F238E27FC236}">
                <a16:creationId xmlns:a16="http://schemas.microsoft.com/office/drawing/2014/main" id="{9FBB54B5-A522-4A23-BBF7-AD1A18EDF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4" name="文字版面配置區 10">
            <a:extLst>
              <a:ext uri="{FF2B5EF4-FFF2-40B4-BE49-F238E27FC236}">
                <a16:creationId xmlns:a16="http://schemas.microsoft.com/office/drawing/2014/main" id="{867C3CE9-8463-4382-AE21-F6BF3518D01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5" name="文字版面配置區 10">
            <a:extLst>
              <a:ext uri="{FF2B5EF4-FFF2-40B4-BE49-F238E27FC236}">
                <a16:creationId xmlns:a16="http://schemas.microsoft.com/office/drawing/2014/main" id="{FDB7C866-DDCF-4E42-8CC8-A211234AFB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6" name="文字版面配置區 10">
            <a:extLst>
              <a:ext uri="{FF2B5EF4-FFF2-40B4-BE49-F238E27FC236}">
                <a16:creationId xmlns:a16="http://schemas.microsoft.com/office/drawing/2014/main" id="{C4F4671C-F421-46D3-B43B-46B3F0DF59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8" name="文字版面配置區 10">
            <a:extLst>
              <a:ext uri="{FF2B5EF4-FFF2-40B4-BE49-F238E27FC236}">
                <a16:creationId xmlns:a16="http://schemas.microsoft.com/office/drawing/2014/main" id="{0E7055C4-CE9C-411A-A475-92AB82FE1E7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9" name="文字版面配置區 10">
            <a:extLst>
              <a:ext uri="{FF2B5EF4-FFF2-40B4-BE49-F238E27FC236}">
                <a16:creationId xmlns:a16="http://schemas.microsoft.com/office/drawing/2014/main" id="{5B7AA0C1-6D4F-4D6B-9E27-6ECEE6F49E6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7" name="文字版面配置區 10">
            <a:extLst>
              <a:ext uri="{FF2B5EF4-FFF2-40B4-BE49-F238E27FC236}">
                <a16:creationId xmlns:a16="http://schemas.microsoft.com/office/drawing/2014/main" id="{6D392CE7-6DB5-412C-939E-200FAC21643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0" name="文字版面配置區 10">
            <a:extLst>
              <a:ext uri="{FF2B5EF4-FFF2-40B4-BE49-F238E27FC236}">
                <a16:creationId xmlns:a16="http://schemas.microsoft.com/office/drawing/2014/main" id="{A5EC4B0C-5DD6-4EEB-AF30-E36D4F9E5E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1" name="文字版面配置區 10">
            <a:extLst>
              <a:ext uri="{FF2B5EF4-FFF2-40B4-BE49-F238E27FC236}">
                <a16:creationId xmlns:a16="http://schemas.microsoft.com/office/drawing/2014/main" id="{2521C66C-8612-487A-AB8B-18249AB8BF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3649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43" name="文字版面配置區 10">
            <a:extLst>
              <a:ext uri="{FF2B5EF4-FFF2-40B4-BE49-F238E27FC236}">
                <a16:creationId xmlns:a16="http://schemas.microsoft.com/office/drawing/2014/main" id="{824436FA-ECBE-4BB1-9126-66F330E7F0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114800"/>
            <a:ext cx="731520" cy="457200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年份</a:t>
            </a:r>
            <a:endParaRPr lang="zh-TW" altLang="en-ZA" noProof="0"/>
          </a:p>
        </p:txBody>
      </p:sp>
      <p:sp>
        <p:nvSpPr>
          <p:cNvPr id="52" name="文字版面配置區 10">
            <a:extLst>
              <a:ext uri="{FF2B5EF4-FFF2-40B4-BE49-F238E27FC236}">
                <a16:creationId xmlns:a16="http://schemas.microsoft.com/office/drawing/2014/main" id="{0622C4FE-C10F-4B57-B40B-0FA21F33051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3" name="文字版面配置區 10">
            <a:extLst>
              <a:ext uri="{FF2B5EF4-FFF2-40B4-BE49-F238E27FC236}">
                <a16:creationId xmlns:a16="http://schemas.microsoft.com/office/drawing/2014/main" id="{0E5C83ED-676D-4C6E-84B3-CF127AC5444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2344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4" name="文字版面配置區 10">
            <a:extLst>
              <a:ext uri="{FF2B5EF4-FFF2-40B4-BE49-F238E27FC236}">
                <a16:creationId xmlns:a16="http://schemas.microsoft.com/office/drawing/2014/main" id="{678DF814-ABAE-422D-8055-BD8FF43DDF5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5" name="文字版面配置區 10">
            <a:extLst>
              <a:ext uri="{FF2B5EF4-FFF2-40B4-BE49-F238E27FC236}">
                <a16:creationId xmlns:a16="http://schemas.microsoft.com/office/drawing/2014/main" id="{E7022C5B-31FF-4550-9CDC-2CF1AB17D55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6" name="文字版面配置區 10">
            <a:extLst>
              <a:ext uri="{FF2B5EF4-FFF2-40B4-BE49-F238E27FC236}">
                <a16:creationId xmlns:a16="http://schemas.microsoft.com/office/drawing/2014/main" id="{C54252E9-4902-4781-BE29-34163ABE7ED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7" name="文字版面配置區 10">
            <a:extLst>
              <a:ext uri="{FF2B5EF4-FFF2-40B4-BE49-F238E27FC236}">
                <a16:creationId xmlns:a16="http://schemas.microsoft.com/office/drawing/2014/main" id="{0FD8FBC5-AD5D-464D-8360-6AA55AA2FA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8" name="文字版面配置區 10">
            <a:extLst>
              <a:ext uri="{FF2B5EF4-FFF2-40B4-BE49-F238E27FC236}">
                <a16:creationId xmlns:a16="http://schemas.microsoft.com/office/drawing/2014/main" id="{C90BD4FA-047A-4A4F-B1E2-4FDEA49BB0A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60" name="文字版面配置區 10">
            <a:extLst>
              <a:ext uri="{FF2B5EF4-FFF2-40B4-BE49-F238E27FC236}">
                <a16:creationId xmlns:a16="http://schemas.microsoft.com/office/drawing/2014/main" id="{5FBE1C04-A830-4310-A83C-178E44D8A72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61" name="文字版面配置區 10">
            <a:extLst>
              <a:ext uri="{FF2B5EF4-FFF2-40B4-BE49-F238E27FC236}">
                <a16:creationId xmlns:a16="http://schemas.microsoft.com/office/drawing/2014/main" id="{EB543626-7655-454D-8E28-B2391850A39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59" name="文字版面配置區 10">
            <a:extLst>
              <a:ext uri="{FF2B5EF4-FFF2-40B4-BE49-F238E27FC236}">
                <a16:creationId xmlns:a16="http://schemas.microsoft.com/office/drawing/2014/main" id="{5F306D8F-E1A5-492D-9145-6445614AB28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62" name="文字版面配置區 10">
            <a:extLst>
              <a:ext uri="{FF2B5EF4-FFF2-40B4-BE49-F238E27FC236}">
                <a16:creationId xmlns:a16="http://schemas.microsoft.com/office/drawing/2014/main" id="{9C109601-CAE5-44CE-ADF7-9FB216F817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63" name="文字版面配置區 10">
            <a:extLst>
              <a:ext uri="{FF2B5EF4-FFF2-40B4-BE49-F238E27FC236}">
                <a16:creationId xmlns:a16="http://schemas.microsoft.com/office/drawing/2014/main" id="{17AE5B8B-FA0E-40E2-9841-D0F9AB83E02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23367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ZA" noProof="0"/>
          </a:p>
        </p:txBody>
      </p:sp>
      <p:sp>
        <p:nvSpPr>
          <p:cNvPr id="35" name="投影片編號版面配置區 5">
            <a:extLst>
              <a:ext uri="{FF2B5EF4-FFF2-40B4-BE49-F238E27FC236}">
                <a16:creationId xmlns:a16="http://schemas.microsoft.com/office/drawing/2014/main" id="{A065CC06-C5B6-44D0-8071-1833580A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1064042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風險與報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版面配置區 44" descr="棕櫚葉的相片&#10;">
            <a:extLst>
              <a:ext uri="{FF2B5EF4-FFF2-40B4-BE49-F238E27FC236}">
                <a16:creationId xmlns:a16="http://schemas.microsoft.com/office/drawing/2014/main" id="{7C4AAE08-43F5-49E6-AEBD-2C27A2BE08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F83E037-B49C-4664-8547-6F1930E2BD04}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6A8F5C17-5DF3-42C2-B87F-A2F50BE0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371600"/>
            <a:ext cx="5057774" cy="640080"/>
          </a:xfrm>
        </p:spPr>
        <p:txBody>
          <a:bodyPr rtlCol="0">
            <a:noAutofit/>
          </a:bodyPr>
          <a:lstStyle>
            <a:lvl1pPr algn="l"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12" name="圖片版面配置區 11">
            <a:extLst>
              <a:ext uri="{FF2B5EF4-FFF2-40B4-BE49-F238E27FC236}">
                <a16:creationId xmlns:a16="http://schemas.microsoft.com/office/drawing/2014/main" id="{DE97EF55-0D4D-4801-869B-04ED682D62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09928" y="2105025"/>
            <a:ext cx="4178808" cy="3383280"/>
          </a:xfrm>
          <a:solidFill>
            <a:schemeClr val="accent4"/>
          </a:solidFill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496" y="2103120"/>
            <a:ext cx="2185416" cy="36576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4496" y="2569464"/>
            <a:ext cx="2185416" cy="2916936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14232" y="2103120"/>
            <a:ext cx="2185416" cy="36576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714232" y="2569464"/>
            <a:ext cx="2185416" cy="2916936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版面配置區 8" descr="膝上型電腦鍵盤以 2 片棕櫚葉框上的相片&#10;">
            <a:extLst>
              <a:ext uri="{FF2B5EF4-FFF2-40B4-BE49-F238E27FC236}">
                <a16:creationId xmlns:a16="http://schemas.microsoft.com/office/drawing/2014/main" id="{729C024A-3DD8-474A-848D-7BCCC032BC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1584ECC-FA3B-4A7A-A456-6472AE8B1DA3}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6A8F5C17-5DF3-42C2-B87F-A2F50BE0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16" y="1929383"/>
            <a:ext cx="4480560" cy="640080"/>
          </a:xfrm>
        </p:spPr>
        <p:txBody>
          <a:bodyPr rtlCol="0">
            <a:noAutofit/>
          </a:bodyPr>
          <a:lstStyle>
            <a:lvl1pPr algn="l"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98448" y="2871216"/>
            <a:ext cx="2066544" cy="36576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98448" y="3337560"/>
            <a:ext cx="2066544" cy="22860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685032" y="2871216"/>
            <a:ext cx="2066544" cy="36576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>
                <a:solidFill>
                  <a:schemeClr val="accent3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685032" y="3337560"/>
            <a:ext cx="2066544" cy="22860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2" name="圖片版面配置區 11">
            <a:extLst>
              <a:ext uri="{FF2B5EF4-FFF2-40B4-BE49-F238E27FC236}">
                <a16:creationId xmlns:a16="http://schemas.microsoft.com/office/drawing/2014/main" id="{DE97EF55-0D4D-4801-869B-04ED682D62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8776" y="1289304"/>
            <a:ext cx="4572000" cy="4334256"/>
          </a:xfrm>
          <a:solidFill>
            <a:schemeClr val="accent4"/>
          </a:solidFill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963672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14980"/>
            <a:ext cx="10515600" cy="640080"/>
          </a:xfrm>
        </p:spPr>
        <p:txBody>
          <a:bodyPr rtlCol="0">
            <a:normAutofit/>
          </a:bodyPr>
          <a:lstStyle>
            <a:lvl1pPr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656"/>
            <a:ext cx="5157787" cy="548640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1600" b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86584"/>
            <a:ext cx="5157787" cy="3684588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2pPr>
            <a:lvl3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3pPr>
            <a:lvl4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4pPr>
            <a:lvl5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656"/>
            <a:ext cx="5183188" cy="548640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1600" b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86584"/>
            <a:ext cx="5183188" cy="3684588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2pPr>
            <a:lvl3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3pPr>
            <a:lvl4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4pPr>
            <a:lvl5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910057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515600" cy="4351338"/>
          </a:xfrm>
        </p:spPr>
        <p:txBody>
          <a:bodyPr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40187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要概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C62EDD7B-9CFE-429C-B002-CB0D9B31ECD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solidFill>
            <a:schemeClr val="bg1"/>
          </a:solidFill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910" y="1878096"/>
            <a:ext cx="4572000" cy="939209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EF15002-67E4-4A4E-8458-C33E897B7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84910" y="3184149"/>
            <a:ext cx="4572000" cy="731520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5FEF5233-78E0-4693-B7BD-AB83F370493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84910" y="2888594"/>
            <a:ext cx="4572000" cy="274320"/>
          </a:xfrm>
        </p:spPr>
        <p:txBody>
          <a:bodyPr rtlCol="0">
            <a:no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AFFB0F1-B93F-405D-9BAC-C8487E8EAD3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1184910" y="4340145"/>
            <a:ext cx="4572000" cy="731520"/>
          </a:xfrm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8DECC8A-9731-47C9-ADC8-DB414C006D1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184910" y="4044590"/>
            <a:ext cx="4572000" cy="274320"/>
          </a:xfrm>
        </p:spPr>
        <p:txBody>
          <a:bodyPr rtlCol="0">
            <a:no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ts val="2200"/>
              </a:lnSpc>
              <a:buNone/>
              <a:defRPr sz="1600"/>
            </a:lvl2pPr>
            <a:lvl3pPr marL="914400" indent="0">
              <a:lnSpc>
                <a:spcPts val="2200"/>
              </a:lnSpc>
              <a:buNone/>
              <a:defRPr sz="1600"/>
            </a:lvl3pPr>
            <a:lvl4pPr marL="1371600" indent="0">
              <a:lnSpc>
                <a:spcPts val="2200"/>
              </a:lnSpc>
              <a:buNone/>
              <a:defRPr sz="1600"/>
            </a:lvl4pPr>
            <a:lvl5pPr marL="1828800" indent="0">
              <a:lnSpc>
                <a:spcPts val="2200"/>
              </a:lnSpc>
              <a:buNone/>
              <a:defRPr sz="16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</p:spTree>
    <p:extLst>
      <p:ext uri="{BB962C8B-B14F-4D97-AF65-F5344CB8AC3E}">
        <p14:creationId xmlns:p14="http://schemas.microsoft.com/office/powerpoint/2010/main" val="4050672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版面配置區 13" descr="葉子特寫相片&#10;">
            <a:extLst>
              <a:ext uri="{FF2B5EF4-FFF2-40B4-BE49-F238E27FC236}">
                <a16:creationId xmlns:a16="http://schemas.microsoft.com/office/drawing/2014/main" id="{5B334254-BCFF-4714-B7C4-38E7C0814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CFE1AAB-5EBC-4913-9A1E-DBC69C761B22}"/>
              </a:ext>
            </a:extLst>
          </p:cNvPr>
          <p:cNvSpPr/>
          <p:nvPr userDrawn="1"/>
        </p:nvSpPr>
        <p:spPr>
          <a:xfrm>
            <a:off x="4066032" y="0"/>
            <a:ext cx="4059936" cy="6858000"/>
          </a:xfrm>
          <a:prstGeom prst="rect">
            <a:avLst/>
          </a:prstGeom>
          <a:solidFill>
            <a:schemeClr val="accent5">
              <a:lumMod val="9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450592"/>
            <a:ext cx="2743200" cy="640080"/>
          </a:xfrm>
        </p:spPr>
        <p:txBody>
          <a:bodyPr rtlCol="0">
            <a:noAutofit/>
          </a:bodyPr>
          <a:lstStyle>
            <a:lvl1pPr algn="ctr"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24400" y="3566160"/>
            <a:ext cx="2743200" cy="265176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80435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029"/>
            <a:ext cx="10515600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4" r:id="rId3"/>
    <p:sldLayoutId id="2147483675" r:id="rId4"/>
    <p:sldLayoutId id="2147483667" r:id="rId5"/>
    <p:sldLayoutId id="2147483666" r:id="rId6"/>
    <p:sldLayoutId id="2147483651" r:id="rId7"/>
    <p:sldLayoutId id="2147483670" r:id="rId8"/>
    <p:sldLayoutId id="2147483672" r:id="rId9"/>
    <p:sldLayoutId id="2147483653" r:id="rId10"/>
    <p:sldLayoutId id="2147483674" r:id="rId11"/>
    <p:sldLayoutId id="2147483668" r:id="rId12"/>
    <p:sldLayoutId id="2147483669" r:id="rId13"/>
    <p:sldLayoutId id="2147483673" r:id="rId14"/>
    <p:sldLayoutId id="2147483671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5184" userDrawn="1">
          <p15:clr>
            <a:srgbClr val="5ACBF0"/>
          </p15:clr>
        </p15:guide>
        <p15:guide id="6" pos="2496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584" y="1901952"/>
            <a:ext cx="3937416" cy="238760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3600" b="1" dirty="0"/>
              <a:t>火山</a:t>
            </a:r>
            <a:br>
              <a:rPr lang="en-US" altLang="zh-TW" sz="3600" b="1" dirty="0"/>
            </a:br>
            <a:r>
              <a:rPr lang="zh-TW" altLang="en-US" sz="3600" b="1" dirty="0"/>
              <a:t>地震觀測網站</a:t>
            </a:r>
          </a:p>
        </p:txBody>
      </p:sp>
      <p:sp>
        <p:nvSpPr>
          <p:cNvPr id="23" name="副標題 22">
            <a:extLst>
              <a:ext uri="{FF2B5EF4-FFF2-40B4-BE49-F238E27FC236}">
                <a16:creationId xmlns:a16="http://schemas.microsoft.com/office/drawing/2014/main" id="{4829E901-B0F6-4B1C-8D1C-8B758458B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0584" y="4379976"/>
            <a:ext cx="3937416" cy="572798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pic>
        <p:nvPicPr>
          <p:cNvPr id="16" name="圖片版面配置區 15" descr="2 名男士繪製圖表的相片&#10;">
            <a:extLst>
              <a:ext uri="{FF2B5EF4-FFF2-40B4-BE49-F238E27FC236}">
                <a16:creationId xmlns:a16="http://schemas.microsoft.com/office/drawing/2014/main" id="{AE10A7AB-4E16-4B85-8C75-FABB6412D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3825" y="1143000"/>
            <a:ext cx="5029200" cy="4572000"/>
          </a:xfrm>
        </p:spPr>
      </p:pic>
    </p:spTree>
    <p:extLst>
      <p:ext uri="{BB962C8B-B14F-4D97-AF65-F5344CB8AC3E}">
        <p14:creationId xmlns:p14="http://schemas.microsoft.com/office/powerpoint/2010/main" val="3946180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1828800"/>
            <a:ext cx="4087368" cy="841248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專題製作動機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2799983"/>
            <a:ext cx="4087368" cy="22037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>
              <a:lnSpc>
                <a:spcPct val="150000"/>
              </a:lnSpc>
            </a:pPr>
            <a:r>
              <a:rPr lang="zh-TW" altLang="en-US" sz="2400" b="1" dirty="0"/>
              <a:t>台灣與日本都位於環太平洋地震帶，地震與火山活動頻繁，對民生、交通、航空安全影響重大。</a:t>
            </a:r>
          </a:p>
        </p:txBody>
      </p:sp>
      <p:pic>
        <p:nvPicPr>
          <p:cNvPr id="17" name="圖片版面配置區 16" descr="小組成員&#10;">
            <a:extLst>
              <a:ext uri="{FF2B5EF4-FFF2-40B4-BE49-F238E27FC236}">
                <a16:creationId xmlns:a16="http://schemas.microsoft.com/office/drawing/2014/main" id="{675F9124-3F84-4444-8B6D-EC5BE819EFD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9048" y="777240"/>
            <a:ext cx="5184648" cy="530352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zh-TW" smtClean="0"/>
              <a:pPr/>
              <a:t>2</a:t>
            </a:fld>
            <a:endParaRPr lang="zh-TW" altLang="en-ZA"/>
          </a:p>
        </p:txBody>
      </p:sp>
    </p:spTree>
    <p:extLst>
      <p:ext uri="{BB962C8B-B14F-4D97-AF65-F5344CB8AC3E}">
        <p14:creationId xmlns:p14="http://schemas.microsoft.com/office/powerpoint/2010/main" val="194202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1828800"/>
            <a:ext cx="4087368" cy="841248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專題製作動機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zh-TW" smtClean="0"/>
              <a:pPr rtl="0"/>
              <a:t>3</a:t>
            </a:fld>
            <a:endParaRPr lang="zh-TW" altLang="en-ZA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3FD5BE-B5CA-4536-B432-EE44370CC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b="1" dirty="0"/>
              <a:t>近期日本地震頻繁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 Light" panose="020B0304030504040204" pitchFamily="34" charset="-120"/>
              <a:ea typeface="Microsoft JhengHei UI Light" panose="020B0304030504040204" pitchFamily="34" charset="-120"/>
              <a:cs typeface="+mn-cs"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905FCE1-131D-4EDA-B14E-538C17865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172" y="1056198"/>
            <a:ext cx="5701657" cy="4577652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8FEC418F-DEC6-44CB-BA5B-4EEE630EE17F}"/>
              </a:ext>
            </a:extLst>
          </p:cNvPr>
          <p:cNvSpPr txBox="1"/>
          <p:nvPr/>
        </p:nvSpPr>
        <p:spPr>
          <a:xfrm>
            <a:off x="9306422" y="870934"/>
            <a:ext cx="1427756" cy="370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Magnitude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137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i="0" dirty="0">
                <a:effectLst/>
                <a:latin typeface="-apple-system"/>
              </a:rPr>
              <a:t>爬取的資料</a:t>
            </a:r>
            <a:r>
              <a:rPr lang="en-US" altLang="zh-TW" b="1" i="0" dirty="0">
                <a:effectLst/>
                <a:latin typeface="-apple-system"/>
              </a:rPr>
              <a:t>-1(</a:t>
            </a:r>
            <a:r>
              <a:rPr lang="zh-TW" altLang="en-US" b="1" i="0" dirty="0">
                <a:effectLst/>
                <a:latin typeface="-apple-system"/>
              </a:rPr>
              <a:t>地震資訊來源</a:t>
            </a:r>
            <a:r>
              <a:rPr lang="en-US" altLang="zh-TW" b="1" i="0" dirty="0">
                <a:effectLst/>
                <a:latin typeface="-apple-system"/>
              </a:rPr>
              <a:t>)</a:t>
            </a:r>
            <a:endParaRPr lang="zh-TW" altLang="en-US" b="1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E0D9D39-4DE1-4E77-8802-B35DBFFF97A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zh-TW"/>
              <a:t>20XX </a:t>
            </a:r>
            <a:r>
              <a:rPr lang="zh-TW" altLang="en-US"/>
              <a:t>年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35D3B1-302E-4611-8FB6-958884D2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4</a:t>
            </a:fld>
            <a:endParaRPr lang="zh-TW" altLang="en-US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16686ED2-24DC-4FEC-806B-1413324B925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827511" y="2452286"/>
            <a:ext cx="8481901" cy="3061008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1" dirty="0"/>
              <a:t>本專題採用：日本氣象廳（</a:t>
            </a:r>
            <a:r>
              <a:rPr lang="en-US" altLang="zh-TW" sz="2400" b="1" dirty="0"/>
              <a:t>JMA, Japan Meteorological Agency</a:t>
            </a:r>
            <a:r>
              <a:rPr lang="zh-TW" altLang="en-US" sz="2400" b="1" dirty="0"/>
              <a:t>）官方開放資料</a:t>
            </a:r>
            <a:endParaRPr lang="en-US" altLang="zh-TW" sz="24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400" b="1" dirty="0"/>
              <a:t>eqvol.xml</a:t>
            </a:r>
            <a:r>
              <a:rPr lang="zh-TW" altLang="en-US" sz="2400" b="1" dirty="0"/>
              <a:t>是日本氣象廳（</a:t>
            </a:r>
            <a:r>
              <a:rPr lang="en-US" altLang="zh-TW" sz="2400" b="1" dirty="0"/>
              <a:t>JMA</a:t>
            </a:r>
            <a:r>
              <a:rPr lang="zh-TW" altLang="en-US" sz="2400" b="1" dirty="0"/>
              <a:t>）提供的一個 </a:t>
            </a:r>
            <a:r>
              <a:rPr lang="en-US" altLang="zh-TW" sz="2400" b="1" dirty="0"/>
              <a:t>Atom </a:t>
            </a:r>
            <a:r>
              <a:rPr lang="zh-TW" altLang="en-US" sz="2400" b="1" dirty="0"/>
              <a:t>格式的資料來源（</a:t>
            </a:r>
            <a:r>
              <a:rPr lang="en-US" altLang="zh-TW" sz="2400" b="1" dirty="0"/>
              <a:t>feed</a:t>
            </a:r>
            <a:r>
              <a:rPr lang="zh-TW" altLang="en-US" sz="2400" b="1" dirty="0"/>
              <a:t>）。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1" dirty="0"/>
              <a:t>地震與火山相關事件的 </a:t>
            </a:r>
            <a:r>
              <a:rPr lang="en-US" altLang="zh-TW" sz="2400" b="1" dirty="0"/>
              <a:t>Atom feed</a:t>
            </a:r>
            <a:r>
              <a:rPr lang="zh-TW" altLang="en-US" sz="2400" b="1" dirty="0"/>
              <a:t>，會持續更新最新的事件清單。</a:t>
            </a:r>
          </a:p>
        </p:txBody>
      </p:sp>
    </p:spTree>
    <p:extLst>
      <p:ext uri="{BB962C8B-B14F-4D97-AF65-F5344CB8AC3E}">
        <p14:creationId xmlns:p14="http://schemas.microsoft.com/office/powerpoint/2010/main" val="51704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i="0" dirty="0">
                <a:effectLst/>
                <a:latin typeface="-apple-system"/>
              </a:rPr>
              <a:t>爬取的資料</a:t>
            </a:r>
            <a:r>
              <a:rPr lang="en-US" altLang="zh-TW" b="1" i="0" dirty="0">
                <a:effectLst/>
                <a:latin typeface="-apple-system"/>
              </a:rPr>
              <a:t>-2(</a:t>
            </a:r>
            <a:r>
              <a:rPr lang="zh-TW" altLang="en-US" b="1" i="0" dirty="0">
                <a:effectLst/>
                <a:latin typeface="-apple-system"/>
              </a:rPr>
              <a:t>火山資料來源</a:t>
            </a:r>
            <a:r>
              <a:rPr lang="en-US" altLang="zh-TW" b="1" i="0" dirty="0">
                <a:effectLst/>
                <a:latin typeface="-apple-system"/>
              </a:rPr>
              <a:t>)</a:t>
            </a:r>
            <a:endParaRPr lang="zh-TW" altLang="en-US" b="1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E0D9D39-4DE1-4E77-8802-B35DBFFF97A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zh-TW"/>
              <a:t>20XX </a:t>
            </a:r>
            <a:r>
              <a:rPr lang="zh-TW" altLang="en-US"/>
              <a:t>年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35D3B1-302E-4611-8FB6-958884D2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5</a:t>
            </a:fld>
            <a:endParaRPr lang="zh-TW" altLang="en-US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16686ED2-24DC-4FEC-806B-1413324B925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827512" y="2452286"/>
            <a:ext cx="3882824" cy="306100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1" dirty="0"/>
              <a:t>採用：</a:t>
            </a:r>
            <a:r>
              <a:rPr lang="en-US" altLang="zh-TW" sz="2400" b="1" dirty="0"/>
              <a:t>tenki.jp</a:t>
            </a:r>
            <a:endParaRPr lang="zh-TW" altLang="en-US" sz="24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400" b="1" dirty="0"/>
              <a:t>tenki.jp</a:t>
            </a:r>
            <a:r>
              <a:rPr lang="zh-TW" altLang="en-US" sz="2400" b="1" dirty="0"/>
              <a:t>是日本氣象協會</a:t>
            </a:r>
            <a:r>
              <a:rPr lang="en-US" altLang="zh-TW" sz="2400" b="1" dirty="0"/>
              <a:t>(</a:t>
            </a:r>
            <a:r>
              <a:rPr lang="zh-TW" altLang="en-US" sz="2400" b="1" dirty="0"/>
              <a:t>民間公司</a:t>
            </a:r>
            <a:r>
              <a:rPr lang="en-US" altLang="zh-TW" sz="2400" b="1" dirty="0"/>
              <a:t>)</a:t>
            </a:r>
            <a:r>
              <a:rPr lang="zh-TW" altLang="en-US" sz="2400" b="1" dirty="0"/>
              <a:t>的氣象網站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4802DB6-810B-4F55-A790-B2FB4738E5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1"/>
          <a:stretch/>
        </p:blipFill>
        <p:spPr>
          <a:xfrm>
            <a:off x="5710336" y="2260599"/>
            <a:ext cx="5210998" cy="32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3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i="0" dirty="0">
                <a:effectLst/>
                <a:latin typeface="-apple-system"/>
              </a:rPr>
              <a:t>爬取的資料</a:t>
            </a:r>
            <a:r>
              <a:rPr lang="en-US" altLang="zh-TW" b="1" i="0" dirty="0">
                <a:effectLst/>
                <a:latin typeface="-apple-system"/>
              </a:rPr>
              <a:t>-2(</a:t>
            </a:r>
            <a:r>
              <a:rPr lang="zh-TW" altLang="en-US" b="1" i="0" dirty="0">
                <a:effectLst/>
                <a:latin typeface="-apple-system"/>
              </a:rPr>
              <a:t>火山資料來源</a:t>
            </a:r>
            <a:r>
              <a:rPr lang="en-US" altLang="zh-TW" b="1" i="0" dirty="0">
                <a:effectLst/>
                <a:latin typeface="-apple-system"/>
              </a:rPr>
              <a:t>)</a:t>
            </a:r>
            <a:endParaRPr lang="zh-TW" altLang="en-US" b="1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E0D9D39-4DE1-4E77-8802-B35DBFFF97A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zh-TW"/>
              <a:t>20XX </a:t>
            </a:r>
            <a:r>
              <a:rPr lang="zh-TW" altLang="en-US"/>
              <a:t>年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35D3B1-302E-4611-8FB6-958884D2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453E1B8-BC76-4DB9-91A9-E41F0E67E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998" y="2235014"/>
            <a:ext cx="5127202" cy="31226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F867B56-48FA-4211-9A01-07648AF40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04" y="2235014"/>
            <a:ext cx="4964594" cy="305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04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資料儲存的技術</a:t>
            </a:r>
            <a:r>
              <a:rPr lang="en-US" altLang="zh-TW" b="1" dirty="0"/>
              <a:t>(</a:t>
            </a:r>
            <a:r>
              <a:rPr lang="zh-TW" altLang="en-US" b="1" dirty="0"/>
              <a:t>資料庫</a:t>
            </a:r>
            <a:r>
              <a:rPr lang="en-US" altLang="zh-TW" b="1" dirty="0"/>
              <a:t>)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7</a:t>
            </a:fld>
            <a:endParaRPr lang="zh-TW" altLang="en-US"/>
          </a:p>
        </p:txBody>
      </p:sp>
      <p:sp>
        <p:nvSpPr>
          <p:cNvPr id="16" name="內容版面配置區 16">
            <a:extLst>
              <a:ext uri="{FF2B5EF4-FFF2-40B4-BE49-F238E27FC236}">
                <a16:creationId xmlns:a16="http://schemas.microsoft.com/office/drawing/2014/main" id="{270C32E2-EE7B-4DFD-80DA-EFF38D53F197}"/>
              </a:ext>
            </a:extLst>
          </p:cNvPr>
          <p:cNvSpPr txBox="1">
            <a:spLocks/>
          </p:cNvSpPr>
          <p:nvPr/>
        </p:nvSpPr>
        <p:spPr>
          <a:xfrm>
            <a:off x="1827511" y="2452286"/>
            <a:ext cx="8481901" cy="306100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400" b="1" dirty="0"/>
              <a:t>本專題選用：</a:t>
            </a:r>
            <a:r>
              <a:rPr lang="en-US" altLang="zh-TW" sz="2400" b="1" dirty="0"/>
              <a:t>SQLite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/>
              <a:t>輕量化：只需一個檔案，不需要額外安裝資料庫伺服器。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/>
              <a:t>跨平台：可在 </a:t>
            </a:r>
            <a:r>
              <a:rPr lang="en-US" altLang="zh-TW" sz="2400" b="1" dirty="0"/>
              <a:t>Windows</a:t>
            </a:r>
            <a:r>
              <a:rPr lang="zh-TW" altLang="en-US" sz="2400" b="1" dirty="0"/>
              <a:t>、</a:t>
            </a:r>
            <a:r>
              <a:rPr lang="en-US" altLang="zh-TW" sz="2400" b="1" dirty="0"/>
              <a:t>Mac</a:t>
            </a:r>
            <a:r>
              <a:rPr lang="zh-TW" altLang="en-US" sz="2400" b="1" dirty="0"/>
              <a:t>、</a:t>
            </a:r>
            <a:r>
              <a:rPr lang="en-US" altLang="zh-TW" sz="2400" b="1" dirty="0"/>
              <a:t>Linux </a:t>
            </a:r>
            <a:r>
              <a:rPr lang="zh-TW" altLang="en-US" sz="2400" b="1" dirty="0"/>
              <a:t>上直接使用。</a:t>
            </a:r>
          </a:p>
        </p:txBody>
      </p:sp>
    </p:spTree>
    <p:extLst>
      <p:ext uri="{BB962C8B-B14F-4D97-AF65-F5344CB8AC3E}">
        <p14:creationId xmlns:p14="http://schemas.microsoft.com/office/powerpoint/2010/main" val="405223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88101512-7670-47A1-B2B4-AF66AAA088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0D002B7-D063-44FD-BDD4-3E8CE243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程式架構</a:t>
            </a:r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B352923C-6ACE-42CA-8643-072B0A44B1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25140" y="777240"/>
            <a:ext cx="8229600" cy="5303520"/>
          </a:xfrm>
        </p:spPr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ADA476-3C20-441B-8433-1E91ABE5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noProof="0" smtClean="0"/>
              <a:pPr/>
              <a:t>8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5797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架構</a:t>
            </a: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9</a:t>
            </a:fld>
            <a:endParaRPr lang="zh-TW" altLang="en-US"/>
          </a:p>
        </p:txBody>
      </p:sp>
      <p:graphicFrame>
        <p:nvGraphicFramePr>
          <p:cNvPr id="9" name="資料庫圖表 8">
            <a:extLst>
              <a:ext uri="{FF2B5EF4-FFF2-40B4-BE49-F238E27FC236}">
                <a16:creationId xmlns:a16="http://schemas.microsoft.com/office/drawing/2014/main" id="{EFC6251A-0632-4774-AC3E-2FC2AE8A4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5812818"/>
              </p:ext>
            </p:extLst>
          </p:nvPr>
        </p:nvGraphicFramePr>
        <p:xfrm>
          <a:off x="5207856" y="2065553"/>
          <a:ext cx="5504024" cy="3675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FD8BF35E-578D-C5BE-AB63-096EA00BFE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0615" y="1014075"/>
            <a:ext cx="3953427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75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架構</a:t>
            </a: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10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054E85-7DD2-4348-8F8B-A474044BB9E5}"/>
              </a:ext>
            </a:extLst>
          </p:cNvPr>
          <p:cNvSpPr txBox="1"/>
          <p:nvPr/>
        </p:nvSpPr>
        <p:spPr>
          <a:xfrm>
            <a:off x="5256246" y="2334282"/>
            <a:ext cx="5789801" cy="3355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1" dirty="0"/>
              <a:t>Main.py:</a:t>
            </a:r>
            <a:r>
              <a:rPr lang="zh-TW" altLang="en-US" sz="2400" b="1" dirty="0"/>
              <a:t>執行三個爬蟲程式</a:t>
            </a: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1" dirty="0" err="1"/>
              <a:t>Jma_earthquake</a:t>
            </a:r>
            <a:r>
              <a:rPr lang="en-US" altLang="zh-TW" sz="2400" b="1" dirty="0"/>
              <a:t>:</a:t>
            </a:r>
            <a:r>
              <a:rPr lang="zh-TW" altLang="en-US" sz="2400" b="1" dirty="0"/>
              <a:t>爬地震速報資訊</a:t>
            </a: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1" dirty="0" err="1"/>
              <a:t>Jma_eqvol</a:t>
            </a:r>
            <a:r>
              <a:rPr lang="en-US" altLang="zh-TW" sz="2400" b="1" dirty="0"/>
              <a:t>:</a:t>
            </a:r>
            <a:r>
              <a:rPr lang="zh-TW" altLang="en-US" sz="2400" b="1" dirty="0"/>
              <a:t>爬地震</a:t>
            </a:r>
            <a:r>
              <a:rPr lang="en-US" altLang="zh-TW" sz="2400" b="1" dirty="0"/>
              <a:t>+</a:t>
            </a:r>
            <a:r>
              <a:rPr lang="zh-TW" altLang="en-US" sz="2400" b="1" dirty="0"/>
              <a:t>火山資訊</a:t>
            </a: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1" dirty="0" err="1"/>
              <a:t>Tenki</a:t>
            </a:r>
            <a:r>
              <a:rPr lang="en-US" altLang="zh-TW" sz="2400" b="1" dirty="0"/>
              <a:t>:</a:t>
            </a:r>
            <a:r>
              <a:rPr lang="zh-TW" altLang="en-US" sz="2400" b="1" dirty="0"/>
              <a:t>火山資訊</a:t>
            </a:r>
            <a:endParaRPr lang="en-US" altLang="zh-TW" sz="2400" b="1" dirty="0"/>
          </a:p>
          <a:p>
            <a:pPr>
              <a:lnSpc>
                <a:spcPct val="150000"/>
              </a:lnSpc>
            </a:pPr>
            <a:endParaRPr lang="en-US" altLang="zh-TW" sz="2400" b="1" dirty="0"/>
          </a:p>
          <a:p>
            <a:pPr>
              <a:lnSpc>
                <a:spcPct val="150000"/>
              </a:lnSpc>
            </a:pPr>
            <a:r>
              <a:rPr lang="zh-TW" altLang="en-US" sz="2400" b="1" dirty="0"/>
              <a:t>後存入</a:t>
            </a:r>
            <a:r>
              <a:rPr lang="en-US" altLang="zh-TW" sz="2400" b="1" dirty="0"/>
              <a:t>volcano</a:t>
            </a:r>
            <a:r>
              <a:rPr lang="zh-TW" altLang="en-US" sz="2400" b="1" dirty="0"/>
              <a:t>資料庫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D7B0D09-1E2C-699D-519F-7DE99D127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953" y="1014075"/>
            <a:ext cx="3953427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8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自動排程</a:t>
            </a: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11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054E85-7DD2-4348-8F8B-A474044BB9E5}"/>
              </a:ext>
            </a:extLst>
          </p:cNvPr>
          <p:cNvSpPr txBox="1"/>
          <p:nvPr/>
        </p:nvSpPr>
        <p:spPr>
          <a:xfrm>
            <a:off x="5256246" y="2334282"/>
            <a:ext cx="5789801" cy="280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/>
              <a:t>每天執行一次 </a:t>
            </a:r>
            <a:r>
              <a:rPr lang="en-US" altLang="zh-TW" sz="2400" b="1" dirty="0" err="1"/>
              <a:t>jma_eqvol</a:t>
            </a: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/>
              <a:t>每 </a:t>
            </a:r>
            <a:r>
              <a:rPr lang="en-US" altLang="zh-TW" sz="2400" b="1" dirty="0"/>
              <a:t>3 </a:t>
            </a:r>
            <a:r>
              <a:rPr lang="zh-TW" altLang="en-US" sz="2400" b="1" dirty="0"/>
              <a:t>天執行一次 </a:t>
            </a:r>
            <a:r>
              <a:rPr lang="en-US" altLang="zh-TW" sz="2400" b="1" dirty="0" err="1"/>
              <a:t>jma_earthquake</a:t>
            </a: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/>
              <a:t>每 </a:t>
            </a:r>
            <a:r>
              <a:rPr lang="en-US" altLang="zh-TW" sz="2400" b="1" dirty="0"/>
              <a:t>7 </a:t>
            </a:r>
            <a:r>
              <a:rPr lang="zh-TW" altLang="en-US" sz="2400" b="1" dirty="0"/>
              <a:t>天執行一次 </a:t>
            </a:r>
            <a:r>
              <a:rPr lang="en-US" altLang="zh-TW" sz="2400" b="1" dirty="0" err="1"/>
              <a:t>tenki_ash.pys</a:t>
            </a:r>
            <a:endParaRPr lang="zh-TW" altLang="en-US" sz="24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D18E1C3-C002-4168-B241-8D4315BD96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889"/>
          <a:stretch/>
        </p:blipFill>
        <p:spPr>
          <a:xfrm>
            <a:off x="1145953" y="1291782"/>
            <a:ext cx="3998729" cy="45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sz="3200" b="1" dirty="0"/>
              <a:t>volcano</a:t>
            </a:r>
            <a:r>
              <a:rPr lang="zh-TW" altLang="en-US" b="1" dirty="0"/>
              <a:t>資料庫</a:t>
            </a: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57872BE-D507-4EF8-A0E9-33DEBFAFE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527" y="2462806"/>
            <a:ext cx="4830815" cy="253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45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sz="3200" b="1" dirty="0" err="1"/>
              <a:t>EarthquakeReports</a:t>
            </a:r>
            <a:r>
              <a:rPr lang="en-US" altLang="zh-TW" sz="3200" b="1" dirty="0"/>
              <a:t>:</a:t>
            </a:r>
            <a:r>
              <a:rPr lang="zh-TW" altLang="en-US" sz="3200" b="1" dirty="0"/>
              <a:t>地震事件</a:t>
            </a:r>
            <a:r>
              <a:rPr lang="en-US" altLang="zh-TW" sz="3200" b="1" dirty="0"/>
              <a:t>(</a:t>
            </a:r>
            <a:r>
              <a:rPr lang="zh-TW" altLang="en-US" sz="3200" b="1" dirty="0"/>
              <a:t>七天內</a:t>
            </a:r>
            <a:r>
              <a:rPr lang="en-US" altLang="zh-TW" sz="3200" b="1" dirty="0"/>
              <a:t>)</a:t>
            </a:r>
            <a:endParaRPr lang="en-US" altLang="zh-TW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13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FA6C691-26CA-4CA4-B78E-11C6BC70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989" y="2507983"/>
            <a:ext cx="9320611" cy="22844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C4882CE-1DB3-41E6-ADC4-03453C279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869" y="4792447"/>
            <a:ext cx="573485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0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sz="3200" b="1" dirty="0" err="1"/>
              <a:t>EarthquakeIntensites</a:t>
            </a:r>
            <a:r>
              <a:rPr lang="en-US" altLang="zh-TW" sz="3200" b="1" dirty="0"/>
              <a:t>:</a:t>
            </a:r>
            <a:r>
              <a:rPr lang="zh-TW" altLang="en-US" sz="3200" b="1" dirty="0"/>
              <a:t>附加資訊</a:t>
            </a:r>
            <a:endParaRPr lang="en-US" altLang="zh-TW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EE4693B-02C3-43E8-8F46-325207BB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989" y="2267339"/>
            <a:ext cx="4946174" cy="21087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BB2C31C-79C9-4B8C-8573-6D4B27416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917" y="4585059"/>
            <a:ext cx="5306165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64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sz="3200" b="1" dirty="0" err="1"/>
              <a:t>Eqvol</a:t>
            </a:r>
            <a:r>
              <a:rPr lang="en-US" altLang="zh-TW" sz="3200" b="1" dirty="0"/>
              <a:t>(</a:t>
            </a:r>
            <a:r>
              <a:rPr lang="zh-TW" altLang="en-US" sz="3200" b="1" dirty="0"/>
              <a:t>只爬當天</a:t>
            </a:r>
            <a:r>
              <a:rPr lang="en-US" altLang="zh-TW" sz="3200" b="1" dirty="0"/>
              <a:t>)</a:t>
            </a:r>
            <a:endParaRPr lang="en-US" altLang="zh-TW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15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7AE33C-808E-490E-A490-80854C2DB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43" y="2337644"/>
            <a:ext cx="10278909" cy="16385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5DC0E78-D27E-4735-9584-C851AF01B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379" y="4136296"/>
            <a:ext cx="5253235" cy="173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27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99935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b="1" dirty="0" err="1"/>
              <a:t>Volcano_list</a:t>
            </a:r>
            <a:endParaRPr lang="en-US" altLang="zh-TW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71CD091-3B5D-4F26-BBAA-0E62FDAB2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839691"/>
            <a:ext cx="10058400" cy="232050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78EF6B3-9724-4978-B169-3EE2A8197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654" y="4160197"/>
            <a:ext cx="5496692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94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99935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b="1" dirty="0" err="1"/>
              <a:t>Volcano_activity</a:t>
            </a:r>
            <a:endParaRPr lang="en-US" altLang="zh-TW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5C263F-C1AB-4C5C-A9A6-A029CDA52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22" y="2099107"/>
            <a:ext cx="10183678" cy="161187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CC30B74-6F3B-48B4-A795-524C51C80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785" y="3957589"/>
            <a:ext cx="5582429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48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b="1" i="0" dirty="0">
                <a:effectLst/>
                <a:latin typeface="-apple-system"/>
              </a:rPr>
              <a:t>Flask + jinja2</a:t>
            </a:r>
            <a:endParaRPr lang="zh-TW" altLang="en-US" b="1" i="0" dirty="0">
              <a:effectLst/>
              <a:latin typeface="-apple-system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35D3B1-302E-4611-8FB6-958884D2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18</a:t>
            </a:fld>
            <a:endParaRPr lang="zh-TW" altLang="en-US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16686ED2-24DC-4FEC-806B-1413324B925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827511" y="2452286"/>
            <a:ext cx="8481901" cy="306100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/>
              <a:t>使用</a:t>
            </a:r>
            <a:r>
              <a:rPr lang="en-US" altLang="zh-TW" sz="2400" b="1" dirty="0"/>
              <a:t>Flask</a:t>
            </a:r>
            <a:r>
              <a:rPr lang="zh-TW" altLang="en-US" sz="2400" b="1" dirty="0"/>
              <a:t>讀出資料庫並顯示在網頁上</a:t>
            </a:r>
            <a:endParaRPr lang="en-US" altLang="zh-TW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sz="24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D8BF35E-578D-C5BE-AB63-096EA00BF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692" y="1266091"/>
            <a:ext cx="3476508" cy="424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67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5201E-0D0B-4879-A91C-D4ED47D7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16" y="1929383"/>
            <a:ext cx="4480560" cy="64008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呈現方式</a:t>
            </a: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C8A25AC9-18C2-42FA-A68D-B954C9D2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7" y="2696547"/>
            <a:ext cx="2984304" cy="2927013"/>
          </a:xfrm>
        </p:spPr>
        <p:txBody>
          <a:bodyPr rtlCol="0">
            <a:normAutofit/>
          </a:bodyPr>
          <a:lstStyle/>
          <a:p>
            <a:pPr rtl="0">
              <a:lnSpc>
                <a:spcPct val="150000"/>
              </a:lnSpc>
            </a:pPr>
            <a:r>
              <a:rPr lang="zh-TW" altLang="en-US" sz="2400" b="1" dirty="0"/>
              <a:t>火山地震情報一覽</a:t>
            </a:r>
            <a:endParaRPr lang="en-US" altLang="zh-TW" sz="2400" b="1" dirty="0"/>
          </a:p>
          <a:p>
            <a:pPr rtl="0">
              <a:lnSpc>
                <a:spcPct val="150000"/>
              </a:lnSpc>
            </a:pPr>
            <a:endParaRPr lang="zh-TW" altLang="en-US" b="1" dirty="0"/>
          </a:p>
        </p:txBody>
      </p:sp>
      <p:sp>
        <p:nvSpPr>
          <p:cNvPr id="38" name="投影片編號版面配置區 37">
            <a:extLst>
              <a:ext uri="{FF2B5EF4-FFF2-40B4-BE49-F238E27FC236}">
                <a16:creationId xmlns:a16="http://schemas.microsoft.com/office/drawing/2014/main" id="{317B426A-ED12-4FB0-AEFB-637E82DB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19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C26F147-5049-49B6-9996-F26CEF61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129" y="1364107"/>
            <a:ext cx="7179879" cy="38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94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5201E-0D0B-4879-A91C-D4ED47D7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16" y="1929383"/>
            <a:ext cx="4480560" cy="64008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呈現方式</a:t>
            </a: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C8A25AC9-18C2-42FA-A68D-B954C9D2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7" y="2696547"/>
            <a:ext cx="2984304" cy="2927013"/>
          </a:xfrm>
        </p:spPr>
        <p:txBody>
          <a:bodyPr rtlCol="0">
            <a:normAutofit/>
          </a:bodyPr>
          <a:lstStyle/>
          <a:p>
            <a:pPr rtl="0">
              <a:lnSpc>
                <a:spcPct val="150000"/>
              </a:lnSpc>
            </a:pPr>
            <a:r>
              <a:rPr lang="zh-TW" altLang="en-US" sz="2400" b="1" dirty="0"/>
              <a:t>地震速報</a:t>
            </a:r>
            <a:endParaRPr lang="zh-TW" altLang="en-US" b="1" dirty="0"/>
          </a:p>
        </p:txBody>
      </p:sp>
      <p:sp>
        <p:nvSpPr>
          <p:cNvPr id="38" name="投影片編號版面配置區 37">
            <a:extLst>
              <a:ext uri="{FF2B5EF4-FFF2-40B4-BE49-F238E27FC236}">
                <a16:creationId xmlns:a16="http://schemas.microsoft.com/office/drawing/2014/main" id="{317B426A-ED12-4FB0-AEFB-637E82DB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A06CB4-8673-4C19-BF16-7AD11B198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327" y="1234440"/>
            <a:ext cx="7780174" cy="417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48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5201E-0D0B-4879-A91C-D4ED47D7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16" y="1929383"/>
            <a:ext cx="4480560" cy="64008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呈現方式</a:t>
            </a: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C8A25AC9-18C2-42FA-A68D-B954C9D2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7" y="2696547"/>
            <a:ext cx="2984304" cy="2927013"/>
          </a:xfrm>
        </p:spPr>
        <p:txBody>
          <a:bodyPr rtlCol="0">
            <a:normAutofit/>
          </a:bodyPr>
          <a:lstStyle/>
          <a:p>
            <a:pPr rtl="0">
              <a:lnSpc>
                <a:spcPct val="150000"/>
              </a:lnSpc>
            </a:pPr>
            <a:r>
              <a:rPr lang="zh-TW" altLang="en-US" sz="2400" b="1" dirty="0"/>
              <a:t>火山情報一覧</a:t>
            </a:r>
          </a:p>
        </p:txBody>
      </p:sp>
      <p:sp>
        <p:nvSpPr>
          <p:cNvPr id="38" name="投影片編號版面配置區 37">
            <a:extLst>
              <a:ext uri="{FF2B5EF4-FFF2-40B4-BE49-F238E27FC236}">
                <a16:creationId xmlns:a16="http://schemas.microsoft.com/office/drawing/2014/main" id="{317B426A-ED12-4FB0-AEFB-637E82DB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8766276-1F11-4423-A724-5AB7DFB95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7" y="1368334"/>
            <a:ext cx="7682483" cy="412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28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5201E-0D0B-4879-A91C-D4ED47D7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16" y="1929383"/>
            <a:ext cx="4480560" cy="64008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呈現方式</a:t>
            </a: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C8A25AC9-18C2-42FA-A68D-B954C9D2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7" y="2696547"/>
            <a:ext cx="2984304" cy="2927013"/>
          </a:xfrm>
        </p:spPr>
        <p:txBody>
          <a:bodyPr rtlCol="0">
            <a:normAutofit/>
          </a:bodyPr>
          <a:lstStyle/>
          <a:p>
            <a:pPr rtl="0">
              <a:lnSpc>
                <a:spcPct val="150000"/>
              </a:lnSpc>
            </a:pPr>
            <a:r>
              <a:rPr lang="zh-TW" altLang="en-US" sz="2400" b="1" dirty="0"/>
              <a:t>地震統計</a:t>
            </a:r>
          </a:p>
        </p:txBody>
      </p:sp>
      <p:sp>
        <p:nvSpPr>
          <p:cNvPr id="38" name="投影片編號版面配置區 37">
            <a:extLst>
              <a:ext uri="{FF2B5EF4-FFF2-40B4-BE49-F238E27FC236}">
                <a16:creationId xmlns:a16="http://schemas.microsoft.com/office/drawing/2014/main" id="{317B426A-ED12-4FB0-AEFB-637E82DB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BBF7E26-6DF9-E7F0-2BE1-9CA5EB5E3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581" y="1368869"/>
            <a:ext cx="7665602" cy="412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08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5201E-0D0B-4879-A91C-D4ED47D7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16" y="1929383"/>
            <a:ext cx="4480560" cy="64008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呈現方式</a:t>
            </a: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C8A25AC9-18C2-42FA-A68D-B954C9D2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7" y="2696547"/>
            <a:ext cx="2984304" cy="2927013"/>
          </a:xfrm>
        </p:spPr>
        <p:txBody>
          <a:bodyPr rtlCol="0">
            <a:normAutofit/>
          </a:bodyPr>
          <a:lstStyle/>
          <a:p>
            <a:pPr rtl="0">
              <a:lnSpc>
                <a:spcPct val="150000"/>
              </a:lnSpc>
            </a:pPr>
            <a:r>
              <a:rPr lang="zh-TW" altLang="en-US" sz="2400" b="1" dirty="0"/>
              <a:t>火山事件統計</a:t>
            </a:r>
          </a:p>
        </p:txBody>
      </p:sp>
      <p:sp>
        <p:nvSpPr>
          <p:cNvPr id="38" name="投影片編號版面配置區 37">
            <a:extLst>
              <a:ext uri="{FF2B5EF4-FFF2-40B4-BE49-F238E27FC236}">
                <a16:creationId xmlns:a16="http://schemas.microsoft.com/office/drawing/2014/main" id="{317B426A-ED12-4FB0-AEFB-637E82DB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23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325461"/>
            <a:ext cx="7718195" cy="41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93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2E784607-E4D8-43CE-91C3-BE89F54E53D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4524B9A-2A18-412C-BA4C-60111779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遇到的困難</a:t>
            </a:r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88398496-DC7E-4240-8505-97F1233301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0305B0-8B45-4009-87BB-EBE80A3C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noProof="0" smtClean="0"/>
              <a:pPr/>
              <a:t>24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94938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來源架構都不同</a:t>
            </a: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25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9070688-CC94-4D7E-886A-8CBA715F2E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079"/>
          <a:stretch/>
        </p:blipFill>
        <p:spPr>
          <a:xfrm>
            <a:off x="1396679" y="2255220"/>
            <a:ext cx="4699321" cy="387306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9508C70-361E-405B-B45B-79DFF51510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82"/>
          <a:stretch/>
        </p:blipFill>
        <p:spPr>
          <a:xfrm>
            <a:off x="5941381" y="2255221"/>
            <a:ext cx="4937760" cy="38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30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來源架構都不同</a:t>
            </a: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9070688-CC94-4D7E-886A-8CBA715F2E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079"/>
          <a:stretch/>
        </p:blipFill>
        <p:spPr>
          <a:xfrm>
            <a:off x="1396679" y="2255220"/>
            <a:ext cx="4699321" cy="387306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9508C70-361E-405B-B45B-79DFF51510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82"/>
          <a:stretch/>
        </p:blipFill>
        <p:spPr>
          <a:xfrm>
            <a:off x="5941381" y="2255221"/>
            <a:ext cx="4937760" cy="38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22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b="1" dirty="0"/>
              <a:t>地震資訊不完整</a:t>
            </a: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65E0F8C-58D0-4666-BBBD-75DAF0C3A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352525"/>
            <a:ext cx="10309860" cy="1917719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1AD2123-1EF9-4EFD-8FE8-1FDAD2FAB08F}"/>
              </a:ext>
            </a:extLst>
          </p:cNvPr>
          <p:cNvCxnSpPr>
            <a:cxnSpLocks/>
          </p:cNvCxnSpPr>
          <p:nvPr/>
        </p:nvCxnSpPr>
        <p:spPr>
          <a:xfrm>
            <a:off x="4358640" y="4084320"/>
            <a:ext cx="31165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398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10058400" cy="565265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b="1" dirty="0"/>
              <a:t>(</a:t>
            </a:r>
            <a:r>
              <a:rPr lang="zh-TW" altLang="en-US" b="1" dirty="0"/>
              <a:t>內頁資訊</a:t>
            </a:r>
            <a:r>
              <a:rPr lang="en-US" altLang="zh-TW" b="1" dirty="0"/>
              <a:t>)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28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FF4683-DBDF-4D54-8D2A-18639BD5D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790" y="2007424"/>
            <a:ext cx="9456420" cy="404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99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88"/>
            <a:ext cx="3661954" cy="833609"/>
          </a:xfrm>
        </p:spPr>
        <p:txBody>
          <a:bodyPr rtlCol="0">
            <a:normAutofit fontScale="90000"/>
          </a:bodyPr>
          <a:lstStyle/>
          <a:p>
            <a:pPr rtl="0"/>
            <a:r>
              <a:rPr lang="zh-TW" altLang="en-US" b="1" dirty="0"/>
              <a:t>地區無法全部分類</a:t>
            </a:r>
            <a:br>
              <a:rPr lang="en-US" altLang="zh-TW" b="1" dirty="0"/>
            </a:br>
            <a:endParaRPr lang="en-US" altLang="zh-TW" b="1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FFA6E-5749-4A02-AB2E-8856A55E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29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524DBC0-8081-6A7C-D63E-922092C1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682" y="936171"/>
            <a:ext cx="3024187" cy="498565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2FCD2D9-E842-AFD9-0BDF-57C1D7ED2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625" y="936171"/>
            <a:ext cx="2589129" cy="495124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A42DFE4-295D-7788-6FC1-DB7E0DC69E7D}"/>
              </a:ext>
            </a:extLst>
          </p:cNvPr>
          <p:cNvSpPr txBox="1"/>
          <p:nvPr/>
        </p:nvSpPr>
        <p:spPr>
          <a:xfrm>
            <a:off x="9144000" y="6169580"/>
            <a:ext cx="1198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(</a:t>
            </a:r>
            <a:r>
              <a:rPr lang="zh-TW" altLang="en-US" b="1" dirty="0"/>
              <a:t>以下略</a:t>
            </a:r>
            <a:r>
              <a:rPr lang="en-US" altLang="zh-TW" b="1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4109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450592"/>
            <a:ext cx="2743200" cy="64008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dirty="0"/>
              <a:t>感謝您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20C547-CAAA-4F67-8DFD-712B97B120C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zh-TW"/>
              <a:t>20XX </a:t>
            </a:r>
            <a:r>
              <a:rPr lang="zh-TW" altLang="en-US"/>
              <a:t>年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5AAE72-0077-4E8E-B3AE-0F087937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433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8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E6D8"/>
      </a:accent1>
      <a:accent2>
        <a:srgbClr val="8C3A27"/>
      </a:accent2>
      <a:accent3>
        <a:srgbClr val="F0C8BC"/>
      </a:accent3>
      <a:accent4>
        <a:srgbClr val="D9A491"/>
      </a:accent4>
      <a:accent5>
        <a:srgbClr val="FFF7F5"/>
      </a:accent5>
      <a:accent6>
        <a:srgbClr val="18401F"/>
      </a:accent6>
      <a:hlink>
        <a:srgbClr val="0563C1"/>
      </a:hlink>
      <a:folHlink>
        <a:srgbClr val="954F72"/>
      </a:folHlink>
    </a:clrScheme>
    <a:fontScheme name="Custom 119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0339418.tgt.Office_59945393_TF10081922_Win32_OJ114675900" id="{A1C8E270-A0D0-4ABC-8B6B-1AE413992C4C}" vid="{5EA63C68-7208-441E-AD2A-D9163B3927C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40D3A7F0074A8D4698DC139AC750AC59" ma:contentTypeVersion="5" ma:contentTypeDescription="建立新的文件。" ma:contentTypeScope="" ma:versionID="3bf4f1f3dd32509e8006531967ec684e">
  <xsd:schema xmlns:xsd="http://www.w3.org/2001/XMLSchema" xmlns:xs="http://www.w3.org/2001/XMLSchema" xmlns:p="http://schemas.microsoft.com/office/2006/metadata/properties" xmlns:ns2="46ae4881-4c43-4eec-8814-24b17182b51a" targetNamespace="http://schemas.microsoft.com/office/2006/metadata/properties" ma:root="true" ma:fieldsID="353569b1152b8059231725cfebe15a2c" ns2:_="">
    <xsd:import namespace="46ae4881-4c43-4eec-8814-24b17182b5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e4881-4c43-4eec-8814-24b17182b5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94EF9C-37D7-43D3-8ABF-F4762A9116D8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CC3022A-70F1-4B7E-97CD-F6F1ACAD79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CB7825-9D42-4A67-9EA2-424813AA93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e4881-4c43-4eec-8814-24b17182b5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{BE0CBF37-60B6-4761-9D3B-F848C1197955}TF96423eb0-8e02-4a99-b83b-bc60d19202d5a28b8b8a_win32-99e37e2bdab4</Template>
  <TotalTime>437</TotalTime>
  <Words>423</Words>
  <Application>Microsoft Office PowerPoint</Application>
  <PresentationFormat>寬螢幕</PresentationFormat>
  <Paragraphs>123</Paragraphs>
  <Slides>30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-apple-system</vt:lpstr>
      <vt:lpstr>Microsoft JhengHei UI</vt:lpstr>
      <vt:lpstr>Microsoft JhengHei UI Light</vt:lpstr>
      <vt:lpstr>Arial</vt:lpstr>
      <vt:lpstr>Quire Sans Pro Light</vt:lpstr>
      <vt:lpstr>Office 佈景主題</vt:lpstr>
      <vt:lpstr>火山 地震觀測網站</vt:lpstr>
      <vt:lpstr>專題製作動機</vt:lpstr>
      <vt:lpstr>專題製作動機</vt:lpstr>
      <vt:lpstr>爬取的資料-1(地震資訊來源)</vt:lpstr>
      <vt:lpstr>爬取的資料-2(火山資料來源)</vt:lpstr>
      <vt:lpstr>爬取的資料-2(火山資料來源)</vt:lpstr>
      <vt:lpstr>資料儲存的技術(資料庫)</vt:lpstr>
      <vt:lpstr>程式架構</vt:lpstr>
      <vt:lpstr>架構</vt:lpstr>
      <vt:lpstr>架構</vt:lpstr>
      <vt:lpstr>自動排程</vt:lpstr>
      <vt:lpstr>volcano資料庫</vt:lpstr>
      <vt:lpstr>EarthquakeReports:地震事件(七天內)</vt:lpstr>
      <vt:lpstr>EarthquakeIntensites:附加資訊</vt:lpstr>
      <vt:lpstr>Eqvol(只爬當天)</vt:lpstr>
      <vt:lpstr>Volcano_list</vt:lpstr>
      <vt:lpstr>Volcano_activity</vt:lpstr>
      <vt:lpstr>Flask + jinja2</vt:lpstr>
      <vt:lpstr>呈現方式</vt:lpstr>
      <vt:lpstr>呈現方式</vt:lpstr>
      <vt:lpstr>呈現方式</vt:lpstr>
      <vt:lpstr>呈現方式</vt:lpstr>
      <vt:lpstr>呈現方式</vt:lpstr>
      <vt:lpstr>遇到的困難</vt:lpstr>
      <vt:lpstr>來源架構都不同</vt:lpstr>
      <vt:lpstr>來源架構都不同</vt:lpstr>
      <vt:lpstr>地震資訊不完整</vt:lpstr>
      <vt:lpstr>(內頁資訊)</vt:lpstr>
      <vt:lpstr>地區無法全部分類 </vt:lpstr>
      <vt:lpstr>感謝您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火山降灰即時警示</dc:title>
  <dc:creator>Mifune</dc:creator>
  <cp:lastModifiedBy>Salacia</cp:lastModifiedBy>
  <cp:revision>38</cp:revision>
  <dcterms:created xsi:type="dcterms:W3CDTF">2025-11-01T02:11:58Z</dcterms:created>
  <dcterms:modified xsi:type="dcterms:W3CDTF">2025-12-28T02:32:19Z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0x01010040D3A7F0074A8D4698DC139AC750AC59</vt:lpwstr>
  </property>
  <property fmtid="{D5CDD505-2E9C-101B-9397-08002B2CF9AE}" pid="3" name="MediaServiceImageTags">
    <vt:lpwstr/>
  </property>
</Properties>
</file>